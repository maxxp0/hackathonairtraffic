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mp4" ContentType="video/mp4"/>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a2ce4983b6344ed" /><Relationship Type="http://schemas.openxmlformats.org/officeDocument/2006/relationships/extended-properties" Target="/docProps/app.xml" Id="Rf62d6b0e1947406d" /><Relationship Type="http://schemas.openxmlformats.org/officeDocument/2006/relationships/officeDocument" Target="/ppt/presentation.xml" Id="Rde343686ec7e4bee" /></Relationships>
</file>

<file path=ppt/presentation.xml><?xml version="1.0" encoding="utf-8"?>
<p:presentation xmlns:p="http://schemas.openxmlformats.org/presentationml/2006/main">
  <p:sldMasterIdLst>
    <p:sldMasterId xmlns:r="http://schemas.openxmlformats.org/officeDocument/2006/relationships" id="2147483648" r:id="R90240980ac26456a"/>
  </p:sldMasterIdLst>
  <p:notesMasterIdLst>
    <p:notesMasterId xmlns:r="http://schemas.openxmlformats.org/officeDocument/2006/relationships" r:id="Rf6a70319f50a43bf"/>
  </p:notesMasterIdLst>
  <p:sldIdLst>
    <p:sldId xmlns:r="http://schemas.openxmlformats.org/officeDocument/2006/relationships" id="256" r:id="Rb2b0253d2f9e49b8"/>
    <p:sldId xmlns:r="http://schemas.openxmlformats.org/officeDocument/2006/relationships" id="257" r:id="R74b0d82836b14431"/>
    <p:sldId xmlns:r="http://schemas.openxmlformats.org/officeDocument/2006/relationships" id="258" r:id="Re981e867f5e64fb6"/>
    <p:sldId xmlns:r="http://schemas.openxmlformats.org/officeDocument/2006/relationships" id="259" r:id="Rb0fb037cfd42493a"/>
    <p:sldId xmlns:r="http://schemas.openxmlformats.org/officeDocument/2006/relationships" id="260" r:id="R38fc3723473449b9"/>
    <p:sldId xmlns:r="http://schemas.openxmlformats.org/officeDocument/2006/relationships" id="261" r:id="Rf6ceeaceec6b4b45"/>
    <p:sldId xmlns:r="http://schemas.openxmlformats.org/officeDocument/2006/relationships" id="262" r:id="Ra8c2d486b7c84a49"/>
    <p:sldId xmlns:r="http://schemas.openxmlformats.org/officeDocument/2006/relationships" id="263" r:id="Re06f85b8018943d4"/>
    <p:sldId xmlns:r="http://schemas.openxmlformats.org/officeDocument/2006/relationships" id="264" r:id="R51cf1968556845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1c5f0883c14b4b" /><Relationship Type="http://schemas.openxmlformats.org/officeDocument/2006/relationships/slideMaster" Target="/ppt/slideMasters/slideMaster1.xml" Id="R90240980ac26456a" /><Relationship Type="http://schemas.openxmlformats.org/officeDocument/2006/relationships/notesMaster" Target="/ppt/notesMasters/notesMaster1.xml" Id="Rf6a70319f50a43bf" /><Relationship Type="http://schemas.openxmlformats.org/officeDocument/2006/relationships/presProps" Target="/ppt/presProps.xml" Id="R20375260c21b40b9" /><Relationship Type="http://schemas.openxmlformats.org/officeDocument/2006/relationships/tableStyles" Target="/ppt/tableStyles.xml" Id="Reeb89fb0655c4e57" /><Relationship Type="http://schemas.openxmlformats.org/officeDocument/2006/relationships/slide" Target="/ppt/slides/slide1.xml" Id="Rb2b0253d2f9e49b8" /><Relationship Type="http://schemas.openxmlformats.org/officeDocument/2006/relationships/slide" Target="/ppt/slides/slide2.xml" Id="R74b0d82836b14431" /><Relationship Type="http://schemas.openxmlformats.org/officeDocument/2006/relationships/slide" Target="/ppt/slides/slide3.xml" Id="Re981e867f5e64fb6" /><Relationship Type="http://schemas.openxmlformats.org/officeDocument/2006/relationships/slide" Target="/ppt/slides/slide4.xml" Id="Rb0fb037cfd42493a" /><Relationship Type="http://schemas.openxmlformats.org/officeDocument/2006/relationships/slide" Target="/ppt/slides/slide5.xml" Id="R38fc3723473449b9" /><Relationship Type="http://schemas.openxmlformats.org/officeDocument/2006/relationships/slide" Target="/ppt/slides/slide6.xml" Id="Rf6ceeaceec6b4b45" /><Relationship Type="http://schemas.openxmlformats.org/officeDocument/2006/relationships/slide" Target="/ppt/slides/slide7.xml" Id="Ra8c2d486b7c84a49" /><Relationship Type="http://schemas.openxmlformats.org/officeDocument/2006/relationships/slide" Target="/ppt/slides/slide8.xml" Id="Re06f85b8018943d4" /><Relationship Type="http://schemas.openxmlformats.org/officeDocument/2006/relationships/slide" Target="/ppt/slides/slide9.xml" Id="R51cf1968556845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831ce30bb648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42ded6a8d944a6" /><Relationship Type="http://schemas.openxmlformats.org/officeDocument/2006/relationships/notesMaster" Target="/ppt/notesMasters/notesMaster1.xml" Id="R1dcdb7fc31f645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6e51d202fd4594" /><Relationship Type="http://schemas.openxmlformats.org/officeDocument/2006/relationships/notesMaster" Target="/ppt/notesMasters/notesMaster1.xml" Id="R5503b9eb425847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bfeccf78994e66" /><Relationship Type="http://schemas.openxmlformats.org/officeDocument/2006/relationships/notesMaster" Target="/ppt/notesMasters/notesMaster1.xml" Id="R82f5a264556a43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3ff83b52274a98" /><Relationship Type="http://schemas.openxmlformats.org/officeDocument/2006/relationships/notesMaster" Target="/ppt/notesMasters/notesMaster1.xml" Id="R9bc0ee5951b943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feeab257234a5b" /><Relationship Type="http://schemas.openxmlformats.org/officeDocument/2006/relationships/notesMaster" Target="/ppt/notesMasters/notesMaster1.xml" Id="R49496dfdf17341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256c3d905f4b6b" /><Relationship Type="http://schemas.openxmlformats.org/officeDocument/2006/relationships/notesMaster" Target="/ppt/notesMasters/notesMaster1.xml" Id="Rf9917d90a9e242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596aeb4e034b5b" /><Relationship Type="http://schemas.openxmlformats.org/officeDocument/2006/relationships/notesMaster" Target="/ppt/notesMasters/notesMaster1.xml" Id="R0ade2bdcf6f54f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8b26ca74be455f" /><Relationship Type="http://schemas.openxmlformats.org/officeDocument/2006/relationships/notesMaster" Target="/ppt/notesMasters/notesMaster1.xml" Id="Rbd5858370a5046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1b1c23ebef4655" /><Relationship Type="http://schemas.openxmlformats.org/officeDocument/2006/relationships/notesMaster" Target="/ppt/notesMasters/notesMaster1.xml" Id="R05be06aa341240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benchmark results from command-driven simulation. This airport is a lightweight Frankfurt-inspired layout, not an operational airport digital twin.</a:t>
            </a:r>
          </a:p>
          <a:p xmlns:a="http://schemas.openxmlformats.org/drawingml/2006/main">
            <a:r>
              <a:t/>
            </a:r>
          </a:p>
          <a:p xmlns:a="http://schemas.openxmlformats.org/drawingml/2006/main">
            <a:r>
              <a:t>Sources: https://github.com/MaxxP0/hackathonAirTraffic/blob/main/docs/evaluations/gpt-6-luna-runway_closure-seed7.json</a:t>
            </a:r>
          </a:p>
          <a:p xmlns:a="http://schemas.openxmlformats.org/drawingml/2006/main">
            <a:r>
              <a:t>https://github.com/MaxxP0/hackathonAirTraffic/blob/main/docs/evaluations/gpt-6-luna-emergency-seed7.json</a:t>
            </a:r>
          </a:p>
          <a:p xmlns:a="http://schemas.openxmlformats.org/drawingml/2006/main">
            <a:r>
              <a:t>https://github.com/MaxxP0/hackathonAirTraffic/blob/main/docs/evaluations/gpt-6-luna-wind_shift-seed7.json</a:t>
            </a:r>
          </a:p>
          <a:p xmlns:a="http://schemas.openxmlformats.org/drawingml/2006/main">
            <a:r>
              <a:t>https://github.com/MaxxP0/hackathonAirTraffic/blob/main/docs/evaluations/glm-5.3-flash-runway_closure-seed7.json</a:t>
            </a:r>
          </a:p>
          <a:p xmlns:a="http://schemas.openxmlformats.org/drawingml/2006/main">
            <a:r>
              <a:t>https://github.com/MaxxP0/hackathonAirTraffic/blob/main/docs/evaluations/glm-5.3-flash-emergency-seed7.json</a:t>
            </a:r>
          </a:p>
          <a:p xmlns:a="http://schemas.openxmlformats.org/drawingml/2006/main">
            <a:r>
              <a:t>https://github.com/MaxxP0/hackathonAirTraffic/blob/main/docs/evaluations/glm-5.3-flash-wind_shift-seed7.json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Seed 7. Scenario duration 1,800 simulated seconds. Decision interval 120 seconds, 15 successful decisions per completed episode. Both use the same frankfurt-controller-v3 prompt, max output 8,192 tokens and low reasoning. The provider does not support a temperature parameter for Luna. GLM uses temperature 0. GLM completion resumes saved state after provider errors. Pausing inference means API delays do not add simulated waiting time.</a:t>
            </a:r>
          </a:p>
          <a:p xmlns:a="http://schemas.openxmlformats.org/drawingml/2006/main">
            <a:r>
              <a:t/>
            </a:r>
          </a:p>
          <a:p xmlns:a="http://schemas.openxmlformats.org/drawingml/2006/main">
            <a:r>
              <a:t>Sources: https://github.com/MaxxP0/hackathonAirTraffic/blob/main/docs/evaluations/gpt-6-luna-runway_closure-seed7.json</a:t>
            </a:r>
          </a:p>
          <a:p xmlns:a="http://schemas.openxmlformats.org/drawingml/2006/main">
            <a:r>
              <a:t>https://github.com/MaxxP0/hackathonAirTraffic/blob/main/docs/evaluations/gpt-6-luna-emergency-seed7.json</a:t>
            </a:r>
          </a:p>
          <a:p xmlns:a="http://schemas.openxmlformats.org/drawingml/2006/main">
            <a:r>
              <a:t>https://github.com/MaxxP0/hackathonAirTraffic/blob/main/docs/evaluations/gpt-6-luna-wind_shift-seed7.json</a:t>
            </a:r>
          </a:p>
          <a:p xmlns:a="http://schemas.openxmlformats.org/drawingml/2006/main">
            <a:r>
              <a:t>https://github.com/MaxxP0/hackathonAirTraffic/blob/main/docs/evaluations/glm-5.3-flash-runway_closure-seed7.json</a:t>
            </a:r>
          </a:p>
          <a:p xmlns:a="http://schemas.openxmlformats.org/drawingml/2006/main">
            <a:r>
              <a:t>https://github.com/MaxxP0/hackathonAirTraffic/blob/main/docs/evaluations/glm-5.3-flash-emergency-seed7.json</a:t>
            </a:r>
          </a:p>
          <a:p xmlns:a="http://schemas.openxmlformats.org/drawingml/2006/main">
            <a:r>
              <a:t>https://github.com/MaxxP0/hackathonAirTraffic/blob/main/docs/evaluations/glm-5.3-flash-wind_shift-seed7.json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recorded GPT-6 Luna run. The MP4 is embedded in the PowerPoint. Replays speed up simulated time by 30 times. The full recorded trajectory was checked against the saved simulator result.</a:t>
            </a:r>
          </a:p>
          <a:p xmlns:a="http://schemas.openxmlformats.org/drawingml/2006/main">
            <a:r>
              <a:t/>
            </a:r>
          </a:p>
          <a:p xmlns:a="http://schemas.openxmlformats.org/drawingml/2006/main">
            <a:r>
              <a:t>Sources: https://github.com/MaxxP0/hackathonAirTraffic/blob/main/atc_bench/web/videos/luna-runway-closure.run.json</a:t>
            </a:r>
          </a:p>
          <a:p xmlns:a="http://schemas.openxmlformats.org/drawingml/2006/main">
            <a:r>
              <a:t>https://github.com/MaxxP0/hackathonAirTraffic/blob/main/atc_bench/web/videos/luna-runway-closure.mp4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recorded GPT-6 Luna run. The MP4 is embedded in the PowerPoint. Replays speed up simulated time by 30 times. The full recorded trajectory was checked against the saved simulator result.</a:t>
            </a:r>
          </a:p>
          <a:p xmlns:a="http://schemas.openxmlformats.org/drawingml/2006/main">
            <a:r>
              <a:t/>
            </a:r>
          </a:p>
          <a:p xmlns:a="http://schemas.openxmlformats.org/drawingml/2006/main">
            <a:r>
              <a:t>Sources: https://github.com/MaxxP0/hackathonAirTraffic/blob/main/atc_bench/web/videos/luna-emergency.run.json</a:t>
            </a:r>
          </a:p>
          <a:p xmlns:a="http://schemas.openxmlformats.org/drawingml/2006/main">
            <a:r>
              <a:t>https://github.com/MaxxP0/hackathonAirTraffic/blob/main/atc_bench/web/videos/luna-emergency.mp4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recorded GPT-6 Luna run. The MP4 is embedded in the PowerPoint. Replays speed up simulated time by 30 times. The full recorded trajectory was checked against the saved simulator result.</a:t>
            </a:r>
          </a:p>
          <a:p xmlns:a="http://schemas.openxmlformats.org/drawingml/2006/main">
            <a:r>
              <a:t/>
            </a:r>
          </a:p>
          <a:p xmlns:a="http://schemas.openxmlformats.org/drawingml/2006/main">
            <a:r>
              <a:t>Sources: https://github.com/MaxxP0/hackathonAirTraffic/blob/main/atc_bench/web/videos/luna-wind-shift.run.json</a:t>
            </a:r>
          </a:p>
          <a:p xmlns:a="http://schemas.openxmlformats.org/drawingml/2006/main">
            <a:r>
              <a:t>https://github.com/MaxxP0/hackathonAirTraffic/blob/main/atc_bench/web/videos/luna-wind-shift.mp4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Scores use final metrics.score only when status is completed and simulated time reaches 1,800 seconds. Bars are native editable PowerPoint charts. Negative values are valid penalties, not missing data. The benchmark also supplies a separate safety-first rank tuple. One seed does not establish general model superiority.</a:t>
            </a:r>
          </a:p>
          <a:p xmlns:a="http://schemas.openxmlformats.org/drawingml/2006/main">
            <a:r>
              <a:t/>
            </a:r>
          </a:p>
          <a:p xmlns:a="http://schemas.openxmlformats.org/drawingml/2006/main">
            <a:r>
              <a:t>Sources: https://github.com/MaxxP0/hackathonAirTraffic/blob/main/docs/evaluations/gpt-6-luna-runway_closure-seed7.json</a:t>
            </a:r>
          </a:p>
          <a:p xmlns:a="http://schemas.openxmlformats.org/drawingml/2006/main">
            <a:r>
              <a:t>https://github.com/MaxxP0/hackathonAirTraffic/blob/main/docs/evaluations/gpt-6-luna-emergency-seed7.json</a:t>
            </a:r>
          </a:p>
          <a:p xmlns:a="http://schemas.openxmlformats.org/drawingml/2006/main">
            <a:r>
              <a:t>https://github.com/MaxxP0/hackathonAirTraffic/blob/main/docs/evaluations/gpt-6-luna-wind_shift-seed7.json</a:t>
            </a:r>
          </a:p>
          <a:p xmlns:a="http://schemas.openxmlformats.org/drawingml/2006/main">
            <a:r>
              <a:t>https://github.com/MaxxP0/hackathonAirTraffic/blob/main/docs/evaluations/glm-5.3-flash-runway_closure-seed7.json</a:t>
            </a:r>
          </a:p>
          <a:p xmlns:a="http://schemas.openxmlformats.org/drawingml/2006/main">
            <a:r>
              <a:t>https://github.com/MaxxP0/hackathonAirTraffic/blob/main/docs/evaluations/glm-5.3-flash-emergency-seed7.json</a:t>
            </a:r>
          </a:p>
          <a:p xmlns:a="http://schemas.openxmlformats.org/drawingml/2006/main">
            <a:r>
              <a:t>https://github.com/MaxxP0/hackathonAirTraffic/blob/main/docs/evaluations/glm-5.3-flash-wind_shift-seed7.json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Ground wait is accumulated departure queue time until takeoff clearance. Emergency wait begins at declaration and ends at touchdown, crash or sector exit. Missing the emergency deadline records a failure but does not stop the timer. Landing service time is existing arrival airborne_time_s, stopping at touchdown, crash or sector exit. All spawned arrivals enter the means, including pending and failed outcomes. Landed here means touchdown, including aircraft still rolling or taxiing. Diverting, diverted and crashed arrivals count as failed. Landing time is a supplemental diagnostic and does not change the overall score. n/a means no emergency population.</a:t>
            </a:r>
          </a:p>
          <a:p xmlns:a="http://schemas.openxmlformats.org/drawingml/2006/main">
            <a:r>
              <a:t/>
            </a:r>
          </a:p>
          <a:p xmlns:a="http://schemas.openxmlformats.org/drawingml/2006/main">
            <a:r>
              <a:t>Sources: https://github.com/MaxxP0/hackathonAirTraffic/blob/main/docs/evaluations/gpt-6-luna-runway_closure-seed7.json</a:t>
            </a:r>
          </a:p>
          <a:p xmlns:a="http://schemas.openxmlformats.org/drawingml/2006/main">
            <a:r>
              <a:t>https://github.com/MaxxP0/hackathonAirTraffic/blob/main/docs/evaluations/gpt-6-luna-emergency-seed7.json</a:t>
            </a:r>
          </a:p>
          <a:p xmlns:a="http://schemas.openxmlformats.org/drawingml/2006/main">
            <a:r>
              <a:t>https://github.com/MaxxP0/hackathonAirTraffic/blob/main/docs/evaluations/gpt-6-luna-wind_shift-seed7.json</a:t>
            </a:r>
          </a:p>
          <a:p xmlns:a="http://schemas.openxmlformats.org/drawingml/2006/main">
            <a:r>
              <a:t>https://github.com/MaxxP0/hackathonAirTraffic/blob/main/docs/evaluations/glm-5.3-flash-runway_closure-seed7.json</a:t>
            </a:r>
          </a:p>
          <a:p xmlns:a="http://schemas.openxmlformats.org/drawingml/2006/main">
            <a:r>
              <a:t>https://github.com/MaxxP0/hackathonAirTraffic/blob/main/docs/evaluations/glm-5.3-flash-emergency-seed7.json</a:t>
            </a:r>
          </a:p>
          <a:p xmlns:a="http://schemas.openxmlformats.org/drawingml/2006/main">
            <a:r>
              <a:t>https://github.com/MaxxP0/hackathonAirTraffic/blob/main/docs/evaluations/glm-5.3-flash-wind_shift-seed7.json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separation event counts the start of a pairwise loss of separation. Pair-minutes are summed exposure divided by 60. Simultaneous pairs each contribute. No collision does not imply safe separation. Threshold: horizontal distance below 3 NM and vertical separation below 1,000 ft. Collision threshold: horizontal below 0.06 NM and vertical below 100 ft.</a:t>
            </a:r>
          </a:p>
          <a:p xmlns:a="http://schemas.openxmlformats.org/drawingml/2006/main">
            <a:r>
              <a:t/>
            </a:r>
          </a:p>
          <a:p xmlns:a="http://schemas.openxmlformats.org/drawingml/2006/main">
            <a:r>
              <a:t>Sources: https://github.com/MaxxP0/hackathonAirTraffic/blob/main/docs/evaluations/gpt-6-luna-runway_closure-seed7.json</a:t>
            </a:r>
          </a:p>
          <a:p xmlns:a="http://schemas.openxmlformats.org/drawingml/2006/main">
            <a:r>
              <a:t>https://github.com/MaxxP0/hackathonAirTraffic/blob/main/docs/evaluations/gpt-6-luna-emergency-seed7.json</a:t>
            </a:r>
          </a:p>
          <a:p xmlns:a="http://schemas.openxmlformats.org/drawingml/2006/main">
            <a:r>
              <a:t>https://github.com/MaxxP0/hackathonAirTraffic/blob/main/docs/evaluations/gpt-6-luna-wind_shift-seed7.json</a:t>
            </a:r>
          </a:p>
          <a:p xmlns:a="http://schemas.openxmlformats.org/drawingml/2006/main">
            <a:r>
              <a:t>https://github.com/MaxxP0/hackathonAirTraffic/blob/main/docs/evaluations/glm-5.3-flash-runway_closure-seed7.json</a:t>
            </a:r>
          </a:p>
          <a:p xmlns:a="http://schemas.openxmlformats.org/drawingml/2006/main">
            <a:r>
              <a:t>https://github.com/MaxxP0/hackathonAirTraffic/blob/main/docs/evaluations/glm-5.3-flash-emergency-seed7.json</a:t>
            </a:r>
          </a:p>
          <a:p xmlns:a="http://schemas.openxmlformats.org/drawingml/2006/main">
            <a:r>
              <a:t>https://github.com/MaxxP0/hackathonAirTraffic/blob/main/docs/evaluations/glm-5.3-flash-wind_shift-seed7.json</a:t>
            </a:r>
          </a:p>
          <a:p xmlns:a="http://schemas.openxmlformats.org/drawingml/2006/main">
            <a:r>
              <a:t>https://github.com/MaxxP0/hackathonAirTraffic/blob/main/atc_bench/environment.py</a:t>
            </a:r>
          </a:p>
          <a:p xmlns:a="http://schemas.openxmlformats.org/drawingml/2006/main">
            <a:r>
              <a:t>https://github.com/MaxxP0/hackathonAirTraffic/blob/main/docs/SCORING.md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 uses synthetic traffic in a simplified Frankfurt-inspired airport. Detailed ground activity and BlueSky integration are outside this prototype. The score includes penalties for safety events, unresolved emergencies, delays and invalid commands, along with completion rewards. There is no gradual proximity penalty outside the fixed thresholds. GLM episodes preserve commands, simulator state, recent dialogue and long-term plan across resumption. Original successful GLM calls used InferenceNet. Resumed completion calls used Sail Research/fp8. Run records document provider routes. All external calls obeyed the user’s $10 provider limit.</a:t>
            </a:r>
          </a:p>
          <a:p xmlns:a="http://schemas.openxmlformats.org/drawingml/2006/main">
            <a:r>
              <a:t/>
            </a:r>
          </a:p>
          <a:p xmlns:a="http://schemas.openxmlformats.org/drawingml/2006/main">
            <a:r>
              <a:t>Sources: https://github.com/MaxxP0/hackathonAirTraffic/blob/main/docs/evaluations/gpt-6-luna-runway_closure-seed7.json</a:t>
            </a:r>
          </a:p>
          <a:p xmlns:a="http://schemas.openxmlformats.org/drawingml/2006/main">
            <a:r>
              <a:t>https://github.com/MaxxP0/hackathonAirTraffic/blob/main/docs/evaluations/gpt-6-luna-emergency-seed7.json</a:t>
            </a:r>
          </a:p>
          <a:p xmlns:a="http://schemas.openxmlformats.org/drawingml/2006/main">
            <a:r>
              <a:t>https://github.com/MaxxP0/hackathonAirTraffic/blob/main/docs/evaluations/gpt-6-luna-wind_shift-seed7.json</a:t>
            </a:r>
          </a:p>
          <a:p xmlns:a="http://schemas.openxmlformats.org/drawingml/2006/main">
            <a:r>
              <a:t>https://github.com/MaxxP0/hackathonAirTraffic/blob/main/docs/evaluations/glm-5.3-flash-runway_closure-seed7.json</a:t>
            </a:r>
          </a:p>
          <a:p xmlns:a="http://schemas.openxmlformats.org/drawingml/2006/main">
            <a:r>
              <a:t>https://github.com/MaxxP0/hackathonAirTraffic/blob/main/docs/evaluations/glm-5.3-flash-emergency-seed7.json</a:t>
            </a:r>
          </a:p>
          <a:p xmlns:a="http://schemas.openxmlformats.org/drawingml/2006/main">
            <a:r>
              <a:t>https://github.com/MaxxP0/hackathonAirTraffic/blob/main/docs/evaluations/glm-5.3-flash-wind_shift-seed7.json</a:t>
            </a:r>
          </a:p>
          <a:p xmlns:a="http://schemas.openxmlformats.org/drawingml/2006/main">
            <a:r>
              <a:t>https://github.com/MaxxP0/hackathonAirTraffic/blob/main/docs/SCORING.md</a:t>
            </a:r>
          </a:p>
          <a:p xmlns:a="http://schemas.openxmlformats.org/drawingml/2006/main">
            <a:r>
              <a:t>https://github.com/MaxxP0/hackathonAirTraffic/blob/main/examples/resume_openrouter.py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84c19d773b43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73ce33da3c4cf9" /><Relationship Type="http://schemas.openxmlformats.org/officeDocument/2006/relationships/slideLayout" Target="/ppt/slideLayouts/slideLayout1.xml" Id="Rd3f395e353a348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f395e353a348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3a40886fa449a6" /><Relationship Type="http://schemas.openxmlformats.org/officeDocument/2006/relationships/notesSlide" Target="/ppt/notesSlides/notesSlide1.xml" Id="R2781922936a64a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ff59203e5b4deb" /><Relationship Type="http://schemas.openxmlformats.org/officeDocument/2006/relationships/notesSlide" Target="/ppt/notesSlides/notesSlide2.xml" Id="R0afe4d15ad804628" /></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ab5fbfce1c5c46e8"/><Relationship Type="http://schemas.openxmlformats.org/officeDocument/2006/relationships/image" Target="/ppt/media/image.jpeg" Id="R162282e26b3346cc"/><Relationship Type="http://schemas.openxmlformats.org/officeDocument/2006/relationships/notesSlide" Target="/ppt/notesSlides/notesSlide3.xml" Id="R3e82633b0c984fd0"/><Relationship Id="rIdATCVideo" Type="http://schemas.openxmlformats.org/officeDocument/2006/relationships/video" Target="../media/luna-runway-closure.mp4"/><Relationship Id="rIdATCMedia" Type="http://schemas.microsoft.com/office/2007/relationships/media" Target="../media/luna-runway-closure.mp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1ff73a85ffda4895"/><Relationship Type="http://schemas.openxmlformats.org/officeDocument/2006/relationships/image" Target="/ppt/media/image2.jpeg" Id="R6dbd456b93574dae"/><Relationship Type="http://schemas.openxmlformats.org/officeDocument/2006/relationships/notesSlide" Target="/ppt/notesSlides/notesSlide4.xml" Id="R2eb0946f85ed4520"/><Relationship Id="rIdATCVideo" Type="http://schemas.openxmlformats.org/officeDocument/2006/relationships/video" Target="../media/luna-emergency.mp4"/><Relationship Id="rIdATCMedia" Type="http://schemas.microsoft.com/office/2007/relationships/media" Target="../media/luna-emergency.mp4"/></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50b5e148f6354e48"/><Relationship Type="http://schemas.openxmlformats.org/officeDocument/2006/relationships/image" Target="/ppt/media/image3.jpeg" Id="Rfee86375aca64819"/><Relationship Type="http://schemas.openxmlformats.org/officeDocument/2006/relationships/notesSlide" Target="/ppt/notesSlides/notesSlide5.xml" Id="R2ee1be693fec4d62"/><Relationship Id="rIdATCVideo" Type="http://schemas.openxmlformats.org/officeDocument/2006/relationships/video" Target="../media/luna-wind-shift.mp4"/><Relationship Id="rIdATCMedia" Type="http://schemas.microsoft.com/office/2007/relationships/media" Target="../media/luna-wind-shift.mp4"/></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352e63916364f26" /><Relationship Type="http://schemas.openxmlformats.org/officeDocument/2006/relationships/chart" Target="/ppt/slides/charts/chart1.xml" Id="Rf15eecc03a82477b" /><Relationship Type="http://schemas.openxmlformats.org/officeDocument/2006/relationships/notesSlide" Target="/ppt/notesSlides/notesSlide6.xml" Id="R95bc38dd1e454e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5ede882e1646d6" /><Relationship Type="http://schemas.openxmlformats.org/officeDocument/2006/relationships/notesSlide" Target="/ppt/notesSlides/notesSlide7.xml" Id="Rb55b1c967eb348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1d70110c4e748d5" /><Relationship Type="http://schemas.openxmlformats.org/officeDocument/2006/relationships/notesSlide" Target="/ppt/notesSlides/notesSlide8.xml" Id="R047e9a1c3bfa4d0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17f4ca1bded4e73" /><Relationship Type="http://schemas.openxmlformats.org/officeDocument/2006/relationships/notesSlide" Target="/ppt/notesSlides/notesSlide9.xml" Id="R86e17e2dc46c43e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GPT-6 Luna</c:v>
          </c:tx>
          <c:spPr>
            <a:solidFill xmlns:a="http://schemas.openxmlformats.org/drawingml/2006/main">
              <a:srgbClr val="5DD4CA"/>
            </a:solidFill>
          </c:spPr>
          <c:cat>
            <c:strRef>
              <c:f>'Chart Data'!$A$2:$A$4</c:f>
              <c:strCache>
                <c:ptCount val="3"/>
                <c:pt idx="0">
                  <c:v>Runway closure</c:v>
                </c:pt>
                <c:pt idx="1">
                  <c:v>Emergencies</c:v>
                </c:pt>
                <c:pt idx="2">
                  <c:v>Wind reversal</c:v>
                </c:pt>
              </c:strCache>
            </c:strRef>
          </c:cat>
          <c:val>
            <c:numRef>
              <c:f>'Chart Data'!$B$2:$B$4</c:f>
              <c:numCache>
                <c:formatCode>0.0</c:formatCode>
                <c:ptCount val="3"/>
                <c:pt idx="0">
                  <c:v>121.529</c:v>
                </c:pt>
                <c:pt idx="1">
                  <c:v>99.639</c:v>
                </c:pt>
                <c:pt idx="2">
                  <c:v>107.476</c:v>
                </c:pt>
              </c:numCache>
            </c:numRef>
          </c:val>
        </c:ser>
        <c:ser>
          <c:idx val="1"/>
          <c:order val="1"/>
          <c:tx>
            <c:v>GLM 5.3 Flash</c:v>
          </c:tx>
          <c:spPr>
            <a:solidFill xmlns:a="http://schemas.openxmlformats.org/drawingml/2006/main">
              <a:srgbClr val="F9B75F"/>
            </a:solidFill>
          </c:spPr>
          <c:invertIfNegative val="0"/>
          <c:cat>
            <c:strRef>
              <c:f>'Chart Data'!$C$2:$C$4</c:f>
              <c:strCache>
                <c:ptCount val="3"/>
                <c:pt idx="0">
                  <c:v>Runway closure</c:v>
                </c:pt>
                <c:pt idx="1">
                  <c:v>Emergencies</c:v>
                </c:pt>
                <c:pt idx="2">
                  <c:v>Wind reversal</c:v>
                </c:pt>
              </c:strCache>
            </c:strRef>
          </c:cat>
          <c:val>
            <c:numRef>
              <c:f>'Chart Data'!$D$2:$D$4</c:f>
              <c:numCache>
                <c:formatCode>0.0</c:formatCode>
                <c:ptCount val="3"/>
                <c:pt idx="0">
                  <c:v>-311.913</c:v>
                </c:pt>
                <c:pt idx="1">
                  <c:v>24.525</c:v>
                </c:pt>
                <c:pt idx="2">
                  <c:v>-451.019</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E5F0F5"/>
                  </a:solidFill>
                  <a:latin typeface="Arial"/>
                  <a:ea typeface="Arial"/>
                  <a:cs typeface="Arial"/>
                </a:defRPr>
              </a:pPr>
            </a:p>
          </c:txPr>
          <c:dLblPos val="outEnd"/>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28404F"/>
            </a:solidFill>
          </a:ln>
        </c:spPr>
        <c:txPr>
          <a:bodyPr xmlns:a="http://schemas.openxmlformats.org/drawingml/2006/main" anchorCtr="1"/>
          <a:lstStyle xmlns:a="http://schemas.openxmlformats.org/drawingml/2006/main"/>
          <a:p xmlns:a="http://schemas.openxmlformats.org/drawingml/2006/main">
            <a:pPr>
              <a:defRPr sz="1725">
                <a:solidFill>
                  <a:srgbClr val="E5F0F5"/>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28404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91A8B7"/>
                </a:solidFill>
                <a:latin typeface="Arial"/>
                <a:ea typeface="Arial"/>
                <a:cs typeface="Arial"/>
              </a:defRPr>
            </a:pPr>
          </a:p>
        </c:txPr>
        <c:crossAx val="48650112"/>
        <c:crossBetween val="between"/>
      </c:valAx>
      <c:spPr>
        <a:solidFill xmlns:a="http://schemas.openxmlformats.org/drawingml/2006/main">
          <a:srgbClr val="08121B"/>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E5F0F5"/>
              </a:solidFill>
              <a:latin typeface="Arial"/>
              <a:ea typeface="Arial"/>
              <a:cs typeface="Arial"/>
            </a:defRPr>
          </a:pPr>
        </a:p>
      </c:txPr>
    </c:legend>
    <c:plotVisOnly val="1"/>
  </c:chart>
  <c:spPr>
    <a:solidFill xmlns:a="http://schemas.openxmlformats.org/drawingml/2006/main">
      <a:srgbClr val="08121B"/>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12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5B2E5E-0465-4D7D-BD5F-0E2D87343E47}"/>
              </a:ext>
            </a:extLst>
          </p:cNvPr>
          <p:cNvSpPr>
            <a:spLocks xmlns:a="http://schemas.openxmlformats.org/drawingml/2006/main" noGrp="1"/>
          </p:cNvSpPr>
          <p:nvPr/>
        </p:nvSpPr>
        <p:spPr>
          <a:xfrm xmlns:a="http://schemas.openxmlformats.org/drawingml/2006/main">
            <a:off x="609600" y="12573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5DD4CA"/>
                </a:solidFill>
                <a:latin typeface="Arial"/>
                <a:ea typeface="Arial"/>
                <a:cs typeface="Arial"/>
              </a:defRPr>
            </a:pPr>
            <a:r>
              <a:rPr sz="1800" b="1">
                <a:solidFill>
                  <a:srgbClr val="5DD4CA"/>
                </a:solidFill>
                <a:latin typeface="Arial"/>
                <a:ea typeface="Arial"/>
                <a:cs typeface="Arial"/>
              </a:rPr>
              <a:t>AIR TRAFFIC CONTROL</a:t>
            </a:r>
          </a:p>
        </p:txBody>
      </p:sp>
      <p:sp>
        <p:nvSpPr>
          <p:cNvPr id="2" name="">
            <a:extLst xmlns:a="http://schemas.openxmlformats.org/drawingml/2006/main">
              <a:ext uri="{FF2B5EF4-FFF2-40B4-BE49-F238E27FC236}">
                <a16:creationId xmlns:a16="http://schemas.microsoft.com/office/drawing/2014/main" id="{AFA211D8-6097-469E-8F4D-225F217D8C4D}"/>
              </a:ext>
            </a:extLst>
          </p:cNvPr>
          <p:cNvSpPr>
            <a:spLocks xmlns:a="http://schemas.openxmlformats.org/drawingml/2006/main" noGrp="1"/>
          </p:cNvSpPr>
          <p:nvPr/>
        </p:nvSpPr>
        <p:spPr>
          <a:xfrm xmlns:a="http://schemas.openxmlformats.org/drawingml/2006/main">
            <a:off x="609600" y="20002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E5F0F5"/>
                </a:solidFill>
                <a:latin typeface="Arial"/>
                <a:ea typeface="Arial"/>
                <a:cs typeface="Arial"/>
              </a:defRPr>
            </a:pPr>
            <a:r>
              <a:rPr sz="5100" b="1">
                <a:solidFill>
                  <a:srgbClr val="E5F0F5"/>
                </a:solidFill>
                <a:latin typeface="Arial"/>
                <a:ea typeface="Arial"/>
                <a:cs typeface="Arial"/>
              </a:rPr>
              <a:t>An LLM at the controls</a:t>
            </a:r>
          </a:p>
        </p:txBody>
      </p:sp>
      <p:sp>
        <p:nvSpPr>
          <p:cNvPr id="3" name="">
            <a:extLst xmlns:a="http://schemas.openxmlformats.org/drawingml/2006/main">
              <a:ext uri="{FF2B5EF4-FFF2-40B4-BE49-F238E27FC236}">
                <a16:creationId xmlns:a16="http://schemas.microsoft.com/office/drawing/2014/main" id="{81B6F9C6-B765-44CE-9B97-04A52FD29F09}"/>
              </a:ext>
            </a:extLst>
          </p:cNvPr>
          <p:cNvSpPr>
            <a:spLocks xmlns:a="http://schemas.openxmlformats.org/drawingml/2006/main" noGrp="1"/>
          </p:cNvSpPr>
          <p:nvPr/>
        </p:nvSpPr>
        <p:spPr>
          <a:xfrm xmlns:a="http://schemas.openxmlformats.org/drawingml/2006/main">
            <a:off x="609600" y="32099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E5F0F5"/>
                </a:solidFill>
                <a:latin typeface="Arial"/>
                <a:ea typeface="Arial"/>
                <a:cs typeface="Arial"/>
              </a:defRPr>
            </a:pPr>
            <a:r>
              <a:rPr sz="2700" b="0">
                <a:solidFill>
                  <a:srgbClr val="E5F0F5"/>
                </a:solidFill>
                <a:latin typeface="Arial"/>
                <a:ea typeface="Arial"/>
                <a:cs typeface="Arial"/>
              </a:rPr>
              <a:t>GPT-6 Luna and GLM 5.3 Flash</a:t>
            </a:r>
          </a:p>
        </p:txBody>
      </p:sp>
      <p:sp>
        <p:nvSpPr>
          <p:cNvPr id="4" name="">
            <a:extLst xmlns:a="http://schemas.openxmlformats.org/drawingml/2006/main">
              <a:ext uri="{FF2B5EF4-FFF2-40B4-BE49-F238E27FC236}">
                <a16:creationId xmlns:a16="http://schemas.microsoft.com/office/drawing/2014/main" id="{0DA7895E-285A-4248-94E4-97D13E11B1B1}"/>
              </a:ext>
            </a:extLst>
          </p:cNvPr>
          <p:cNvSpPr>
            <a:spLocks xmlns:a="http://schemas.openxmlformats.org/drawingml/2006/main" noGrp="1"/>
          </p:cNvSpPr>
          <p:nvPr/>
        </p:nvSpPr>
        <p:spPr>
          <a:xfrm xmlns:a="http://schemas.openxmlformats.org/drawingml/2006/main">
            <a:off x="609600" y="4362450"/>
            <a:ext cx="990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91A8B7"/>
                </a:solidFill>
                <a:latin typeface="Arial"/>
                <a:ea typeface="Arial"/>
                <a:cs typeface="Arial"/>
              </a:defRPr>
            </a:pPr>
            <a:r>
              <a:rPr sz="2175" b="0">
                <a:solidFill>
                  <a:srgbClr val="91A8B7"/>
                </a:solidFill>
                <a:latin typeface="Arial"/>
                <a:ea typeface="Arial"/>
                <a:cs typeface="Arial"/>
              </a:rPr>
              <a:t>Frankfurt-inspired simulation</a:t>
            </a:r>
          </a:p>
          <a:p xmlns:a="http://schemas.openxmlformats.org/drawingml/2006/main">
            <a:pPr>
              <a:defRPr sz="2175" b="0">
                <a:solidFill>
                  <a:srgbClr val="91A8B7"/>
                </a:solidFill>
                <a:latin typeface="Arial"/>
                <a:ea typeface="Arial"/>
                <a:cs typeface="Arial"/>
              </a:defRPr>
            </a:pPr>
            <a:r>
              <a:rPr sz="2175" b="0">
                <a:solidFill>
                  <a:srgbClr val="91A8B7"/>
                </a:solidFill>
                <a:latin typeface="Arial"/>
                <a:ea typeface="Arial"/>
                <a:cs typeface="Arial"/>
              </a:rPr>
              <a:t>Recorded scenarios and benchmark results</a:t>
            </a:r>
          </a:p>
        </p:txBody>
      </p:sp>
      <p:sp>
        <p:nvSpPr>
          <p:cNvPr id="5" name="">
            <a:extLst xmlns:a="http://schemas.openxmlformats.org/drawingml/2006/main">
              <a:ext uri="{FF2B5EF4-FFF2-40B4-BE49-F238E27FC236}">
                <a16:creationId xmlns:a16="http://schemas.microsoft.com/office/drawing/2014/main" id="{CA076A01-F1EC-4840-907C-D067AAF98053}"/>
              </a:ext>
            </a:extLst>
          </p:cNvPr>
          <p:cNvSpPr>
            <a:spLocks xmlns:a="http://schemas.openxmlformats.org/drawingml/2006/main" noGrp="1"/>
          </p:cNvSpPr>
          <p:nvPr/>
        </p:nvSpPr>
        <p:spPr>
          <a:xfrm xmlns:a="http://schemas.openxmlformats.org/drawingml/2006/main">
            <a:off x="609600" y="60769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91A8B7"/>
                </a:solidFill>
                <a:latin typeface="Arial"/>
                <a:ea typeface="Arial"/>
                <a:cs typeface="Arial"/>
              </a:defRPr>
            </a:pPr>
            <a:r>
              <a:rPr sz="1500" b="0">
                <a:solidFill>
                  <a:srgbClr val="91A8B7"/>
                </a:solidFill>
                <a:latin typeface="Arial"/>
                <a:ea typeface="Arial"/>
                <a:cs typeface="Arial"/>
              </a:rPr>
              <a:t>26 September 2026</a:t>
            </a:r>
          </a:p>
        </p:txBody>
      </p:sp>
    </p:spTree>
    <p:extLst>
      <p:ext uri="{BB962C8B-B14F-4D97-AF65-F5344CB8AC3E}">
        <p14:creationId xmlns:p14="http://schemas.microsoft.com/office/powerpoint/2010/main" val="304472134"/>
      </p:ext>
    </p:extLst>
  </p:cSld>
</p:sld>
</file>

<file path=ppt/slides/slide2.xml><?xml version="1.0" encoding="utf-8"?>
<p:sld xmlns:p="http://schemas.openxmlformats.org/presentationml/2006/main">
  <p:cSld>
    <p:bg>
      <p:bgPr>
        <a:solidFill xmlns:a="http://schemas.openxmlformats.org/drawingml/2006/main">
          <a:srgbClr val="08121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8C94A3-3D0B-47CC-B43C-E075467AA97C}"/>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5F0F5"/>
                </a:solidFill>
                <a:latin typeface="Arial"/>
                <a:ea typeface="Arial"/>
                <a:cs typeface="Arial"/>
              </a:defRPr>
            </a:pPr>
            <a:r>
              <a:rPr sz="3300" b="1">
                <a:solidFill>
                  <a:srgbClr val="E5F0F5"/>
                </a:solidFill>
                <a:latin typeface="Arial"/>
                <a:ea typeface="Arial"/>
                <a:cs typeface="Arial"/>
              </a:rPr>
              <a:t>Benchmark setup</a:t>
            </a:r>
          </a:p>
        </p:txBody>
      </p:sp>
      <p:sp>
        <p:nvSpPr>
          <p:cNvPr id="2" name="">
            <a:extLst xmlns:a="http://schemas.openxmlformats.org/drawingml/2006/main">
              <a:ext uri="{FF2B5EF4-FFF2-40B4-BE49-F238E27FC236}">
                <a16:creationId xmlns:a16="http://schemas.microsoft.com/office/drawing/2014/main" id="{46FFEB81-AC6F-4084-9E16-79A9F190EFF3}"/>
              </a:ext>
            </a:extLst>
          </p:cNvPr>
          <p:cNvSpPr>
            <a:spLocks xmlns:a="http://schemas.openxmlformats.org/drawingml/2006/main" noGrp="1"/>
          </p:cNvSpPr>
          <p:nvPr/>
        </p:nvSpPr>
        <p:spPr>
          <a:xfrm xmlns:a="http://schemas.openxmlformats.org/drawingml/2006/main">
            <a:off x="609600" y="60579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91A8B7"/>
                </a:solidFill>
                <a:latin typeface="Arial"/>
                <a:ea typeface="Arial"/>
                <a:cs typeface="Arial"/>
              </a:defRPr>
            </a:pPr>
            <a:r>
              <a:rPr sz="1425" b="0">
                <a:solidFill>
                  <a:srgbClr val="91A8B7"/>
                </a:solidFill>
                <a:latin typeface="Arial"/>
                <a:ea typeface="Arial"/>
                <a:cs typeface="Arial"/>
              </a:rPr>
              <a:t>Same traffic seed and 30-minute horizon for both models. One run per scenario.</a:t>
            </a:r>
          </a:p>
        </p:txBody>
      </p:sp>
      <p:sp>
        <p:nvSpPr>
          <p:cNvPr id="3" name="">
            <a:extLst xmlns:a="http://schemas.openxmlformats.org/drawingml/2006/main">
              <a:ext uri="{FF2B5EF4-FFF2-40B4-BE49-F238E27FC236}">
                <a16:creationId xmlns:a16="http://schemas.microsoft.com/office/drawing/2014/main" id="{05A3F957-80F5-44F2-9968-0DBBD8D0C5CB}"/>
              </a:ext>
            </a:extLst>
          </p:cNvPr>
          <p:cNvSpPr>
            <a:spLocks xmlns:a="http://schemas.openxmlformats.org/drawingml/2006/main" noGrp="1"/>
          </p:cNvSpPr>
          <p:nvPr/>
        </p:nvSpPr>
        <p:spPr>
          <a:xfrm xmlns:a="http://schemas.openxmlformats.org/drawingml/2006/main">
            <a:off x="609600" y="1543050"/>
            <a:ext cx="323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5DD4CA"/>
                </a:solidFill>
                <a:latin typeface="Arial"/>
                <a:ea typeface="Arial"/>
                <a:cs typeface="Arial"/>
              </a:defRPr>
            </a:pPr>
            <a:r>
              <a:rPr sz="3600" b="1">
                <a:solidFill>
                  <a:srgbClr val="5DD4CA"/>
                </a:solidFill>
                <a:latin typeface="Arial"/>
                <a:ea typeface="Arial"/>
                <a:cs typeface="Arial"/>
              </a:rPr>
              <a:t>30 minutes</a:t>
            </a:r>
          </a:p>
        </p:txBody>
      </p:sp>
      <p:sp>
        <p:nvSpPr>
          <p:cNvPr id="4" name="">
            <a:extLst xmlns:a="http://schemas.openxmlformats.org/drawingml/2006/main">
              <a:ext uri="{FF2B5EF4-FFF2-40B4-BE49-F238E27FC236}">
                <a16:creationId xmlns:a16="http://schemas.microsoft.com/office/drawing/2014/main" id="{C58B46B1-6158-4D5F-BB67-D6B4399F923A}"/>
              </a:ext>
            </a:extLst>
          </p:cNvPr>
          <p:cNvSpPr>
            <a:spLocks xmlns:a="http://schemas.openxmlformats.org/drawingml/2006/main" noGrp="1"/>
          </p:cNvSpPr>
          <p:nvPr/>
        </p:nvSpPr>
        <p:spPr>
          <a:xfrm xmlns:a="http://schemas.openxmlformats.org/drawingml/2006/main">
            <a:off x="609600" y="21907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E5F0F5"/>
                </a:solidFill>
                <a:latin typeface="Arial"/>
                <a:ea typeface="Arial"/>
                <a:cs typeface="Arial"/>
              </a:defRPr>
            </a:pPr>
            <a:r>
              <a:rPr sz="1875" b="0">
                <a:solidFill>
                  <a:srgbClr val="E5F0F5"/>
                </a:solidFill>
                <a:latin typeface="Arial"/>
                <a:ea typeface="Arial"/>
                <a:cs typeface="Arial"/>
              </a:rPr>
              <a:t>of simulated traffic</a:t>
            </a:r>
          </a:p>
        </p:txBody>
      </p:sp>
      <p:sp>
        <p:nvSpPr>
          <p:cNvPr id="5" name="">
            <a:extLst xmlns:a="http://schemas.openxmlformats.org/drawingml/2006/main">
              <a:ext uri="{FF2B5EF4-FFF2-40B4-BE49-F238E27FC236}">
                <a16:creationId xmlns:a16="http://schemas.microsoft.com/office/drawing/2014/main" id="{A582F072-109F-4B15-B56A-716FFCE3C5C6}"/>
              </a:ext>
            </a:extLst>
          </p:cNvPr>
          <p:cNvSpPr>
            <a:spLocks xmlns:a="http://schemas.openxmlformats.org/drawingml/2006/main" noGrp="1"/>
          </p:cNvSpPr>
          <p:nvPr/>
        </p:nvSpPr>
        <p:spPr>
          <a:xfrm xmlns:a="http://schemas.openxmlformats.org/drawingml/2006/main">
            <a:off x="6286500" y="1543050"/>
            <a:ext cx="4667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9B75F"/>
                </a:solidFill>
                <a:latin typeface="Arial"/>
                <a:ea typeface="Arial"/>
                <a:cs typeface="Arial"/>
              </a:defRPr>
            </a:pPr>
            <a:r>
              <a:rPr sz="3600" b="1">
                <a:solidFill>
                  <a:srgbClr val="F9B75F"/>
                </a:solidFill>
                <a:latin typeface="Arial"/>
                <a:ea typeface="Arial"/>
                <a:cs typeface="Arial"/>
              </a:rPr>
              <a:t>120 seconds</a:t>
            </a:r>
          </a:p>
        </p:txBody>
      </p:sp>
      <p:sp>
        <p:nvSpPr>
          <p:cNvPr id="6" name="">
            <a:extLst xmlns:a="http://schemas.openxmlformats.org/drawingml/2006/main">
              <a:ext uri="{FF2B5EF4-FFF2-40B4-BE49-F238E27FC236}">
                <a16:creationId xmlns:a16="http://schemas.microsoft.com/office/drawing/2014/main" id="{4E2B92B8-2763-40FF-A316-7E4738B4D2F8}"/>
              </a:ext>
            </a:extLst>
          </p:cNvPr>
          <p:cNvSpPr>
            <a:spLocks xmlns:a="http://schemas.openxmlformats.org/drawingml/2006/main" noGrp="1"/>
          </p:cNvSpPr>
          <p:nvPr/>
        </p:nvSpPr>
        <p:spPr>
          <a:xfrm xmlns:a="http://schemas.openxmlformats.org/drawingml/2006/main">
            <a:off x="6286500" y="21907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E5F0F5"/>
                </a:solidFill>
                <a:latin typeface="Arial"/>
                <a:ea typeface="Arial"/>
                <a:cs typeface="Arial"/>
              </a:defRPr>
            </a:pPr>
            <a:r>
              <a:rPr sz="1875" b="0">
                <a:solidFill>
                  <a:srgbClr val="E5F0F5"/>
                </a:solidFill>
                <a:latin typeface="Arial"/>
                <a:ea typeface="Arial"/>
                <a:cs typeface="Arial"/>
              </a:rPr>
              <a:t>between controller decisions</a:t>
            </a:r>
          </a:p>
        </p:txBody>
      </p:sp>
      <p:sp>
        <p:nvSpPr>
          <p:cNvPr id="7" name="">
            <a:extLst xmlns:a="http://schemas.openxmlformats.org/drawingml/2006/main">
              <a:ext uri="{FF2B5EF4-FFF2-40B4-BE49-F238E27FC236}">
                <a16:creationId xmlns:a16="http://schemas.microsoft.com/office/drawing/2014/main" id="{E34C4599-7B49-491A-96EB-3A601E46829D}"/>
              </a:ext>
            </a:extLst>
          </p:cNvPr>
          <p:cNvSpPr>
            <a:spLocks xmlns:a="http://schemas.openxmlformats.org/drawingml/2006/main" noGrp="1"/>
          </p:cNvSpPr>
          <p:nvPr/>
        </p:nvSpPr>
        <p:spPr>
          <a:xfrm xmlns:a="http://schemas.openxmlformats.org/drawingml/2006/main">
            <a:off x="609600" y="3143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5F0F5"/>
                </a:solidFill>
                <a:latin typeface="Arial"/>
                <a:ea typeface="Arial"/>
                <a:cs typeface="Arial"/>
              </a:defRPr>
            </a:pPr>
            <a:r>
              <a:rPr sz="2175" b="0">
                <a:solidFill>
                  <a:srgbClr val="E5F0F5"/>
                </a:solidFill>
                <a:latin typeface="Arial"/>
                <a:ea typeface="Arial"/>
                <a:cs typeface="Arial"/>
              </a:rPr>
              <a:t>The model receives text telemetry and issues commands for approaches, runway assignments, headings and takeoffs.</a:t>
            </a:r>
          </a:p>
        </p:txBody>
      </p:sp>
      <p:sp>
        <p:nvSpPr>
          <p:cNvPr id="8" name="">
            <a:extLst xmlns:a="http://schemas.openxmlformats.org/drawingml/2006/main">
              <a:ext uri="{FF2B5EF4-FFF2-40B4-BE49-F238E27FC236}">
                <a16:creationId xmlns:a16="http://schemas.microsoft.com/office/drawing/2014/main" id="{613C59C4-1D9B-4748-8B8D-8BC9319F2DB0}"/>
              </a:ext>
            </a:extLst>
          </p:cNvPr>
          <p:cNvSpPr>
            <a:spLocks xmlns:a="http://schemas.openxmlformats.org/drawingml/2006/main" noGrp="1"/>
          </p:cNvSpPr>
          <p:nvPr/>
        </p:nvSpPr>
        <p:spPr>
          <a:xfrm xmlns:a="http://schemas.openxmlformats.org/drawingml/2006/main">
            <a:off x="609600" y="44577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5F0F5"/>
                </a:solidFill>
                <a:latin typeface="Arial"/>
                <a:ea typeface="Arial"/>
                <a:cs typeface="Arial"/>
              </a:defRPr>
            </a:pPr>
            <a:r>
              <a:rPr sz="2175" b="0">
                <a:solidFill>
                  <a:srgbClr val="E5F0F5"/>
                </a:solidFill>
                <a:latin typeface="Arial"/>
                <a:ea typeface="Arial"/>
                <a:cs typeface="Arial"/>
              </a:rPr>
              <a:t>The simulator pauses during inference. Each model keeps recent dialogue and a persistent operational plan.</a:t>
            </a:r>
          </a:p>
        </p:txBody>
      </p:sp>
    </p:spTree>
    <p:extLst>
      <p:ext uri="{BB962C8B-B14F-4D97-AF65-F5344CB8AC3E}">
        <p14:creationId xmlns:p14="http://schemas.microsoft.com/office/powerpoint/2010/main" val="360792661"/>
      </p:ext>
    </p:extLst>
  </p:cSld>
</p:sld>
</file>

<file path=ppt/slides/slide3.xml><?xml version="1.0" encoding="utf-8"?>
<p:sld xmlns:p="http://schemas.openxmlformats.org/presentationml/2006/main">
  <p:cSld>
    <p:bg>
      <p:bgPr>
        <a:solidFill xmlns:a="http://schemas.openxmlformats.org/drawingml/2006/main">
          <a:srgbClr val="0812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9497A7-A78F-4B14-A108-5CF78E6B68DF}"/>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5F0F5"/>
                </a:solidFill>
                <a:latin typeface="Arial"/>
                <a:ea typeface="Arial"/>
                <a:cs typeface="Arial"/>
              </a:defRPr>
            </a:pPr>
            <a:r>
              <a:rPr sz="3300" b="1">
                <a:solidFill>
                  <a:srgbClr val="E5F0F5"/>
                </a:solidFill>
                <a:latin typeface="Arial"/>
                <a:ea typeface="Arial"/>
                <a:cs typeface="Arial"/>
              </a:rPr>
              <a:t>Luna: sudden runway closure</a:t>
            </a:r>
          </a:p>
        </p:txBody>
      </p:sp>
      <p:sp>
        <p:nvSpPr>
          <p:cNvPr id="2" name="">
            <a:extLst xmlns:a="http://schemas.openxmlformats.org/drawingml/2006/main">
              <a:ext uri="{FF2B5EF4-FFF2-40B4-BE49-F238E27FC236}">
                <a16:creationId xmlns:a16="http://schemas.microsoft.com/office/drawing/2014/main" id="{96A66ADE-BDAD-406A-BC16-20B0353B3E91}"/>
              </a:ext>
            </a:extLst>
          </p:cNvPr>
          <p:cNvSpPr>
            <a:spLocks xmlns:a="http://schemas.openxmlformats.org/drawingml/2006/main" noGrp="1"/>
          </p:cNvSpPr>
          <p:nvPr/>
        </p:nvSpPr>
        <p:spPr>
          <a:xfrm xmlns:a="http://schemas.openxmlformats.org/drawingml/2006/main">
            <a:off x="609600" y="60579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91A8B7"/>
                </a:solidFill>
                <a:latin typeface="Arial"/>
                <a:ea typeface="Arial"/>
                <a:cs typeface="Arial"/>
              </a:defRPr>
            </a:pPr>
            <a:r>
              <a:rPr sz="1425" b="0">
                <a:solidFill>
                  <a:srgbClr val="91A8B7"/>
                </a:solidFill>
                <a:latin typeface="Arial"/>
                <a:ea typeface="Arial"/>
                <a:cs typeface="Arial"/>
              </a:rPr>
              <a:t>32-second replay at 30× speed. The full episode recorded 3 diversions and 3 separation-loss events.</a:t>
            </a:r>
          </a:p>
        </p:txBody>
      </p:sp>
      <p:pic>
        <p:nvPicPr>
          <p:cNvPr id="8" name="luna-runway-closure.mp4" descr="Actual GPT-6 Luna simulation replay">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ATCVideo"/>
            <p:extLst>
              <p:ext uri="{DAA4B4D4-6D71-4841-9C94-3DE7FCFB9230}">
                <ns3:media xmlns:ns3="http://schemas.microsoft.com/office/powerpoint/2010/main" xmlns:ns4="http://schemas.openxmlformats.org/officeDocument/2006/relationships" ns4:embed="rIdATCMedia"/>
              </p:ext>
            </p:extLst>
          </p:nvPr>
        </p:nvPicPr>
        <p:blipFill>
          <a:blip xmlns:r="http://schemas.openxmlformats.org/officeDocument/2006/relationships" xmlns:a="http://schemas.openxmlformats.org/drawingml/2006/main" r:embed="R162282e26b3346cc"/>
          <a:stretch xmlns:a="http://schemas.openxmlformats.org/drawingml/2006/main"/>
        </p:blipFill>
        <p:spPr>
          <a:xfrm xmlns:a="http://schemas.openxmlformats.org/drawingml/2006/main">
            <a:off x="609600" y="1466850"/>
            <a:ext cx="8001000" cy="450056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51972A2-9715-4385-B2EF-8EF9D7E58A10}"/>
              </a:ext>
            </a:extLst>
          </p:cNvPr>
          <p:cNvSpPr>
            <a:spLocks xmlns:a="http://schemas.openxmlformats.org/drawingml/2006/main" noGrp="1"/>
          </p:cNvSpPr>
          <p:nvPr/>
        </p:nvSpPr>
        <p:spPr>
          <a:xfrm xmlns:a="http://schemas.openxmlformats.org/drawingml/2006/main">
            <a:off x="8991600" y="1743075"/>
            <a:ext cx="26098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E5F0F5"/>
                </a:solidFill>
                <a:latin typeface="Arial"/>
                <a:ea typeface="Arial"/>
                <a:cs typeface="Arial"/>
              </a:defRPr>
            </a:pPr>
            <a:r>
              <a:rPr sz="1875" b="0">
                <a:solidFill>
                  <a:srgbClr val="E5F0F5"/>
                </a:solidFill>
                <a:latin typeface="Arial"/>
                <a:ea typeface="Arial"/>
                <a:cs typeface="Arial"/>
              </a:rPr>
              <a:t>A closure forces CFG101 to go around.</a:t>
            </a:r>
          </a:p>
          <a:p xmlns:a="http://schemas.openxmlformats.org/drawingml/2006/main">
            <a:pPr>
              <a:defRPr sz="1875" b="0">
                <a:solidFill>
                  <a:srgbClr val="E5F0F5"/>
                </a:solidFill>
                <a:latin typeface="Arial"/>
                <a:ea typeface="Arial"/>
                <a:cs typeface="Arial"/>
              </a:defRPr>
            </a:pPr>
            <a:r>
              <a:rPr sz="1875" b="0">
                <a:solidFill>
                  <a:srgbClr val="E5F0F5"/>
                </a:solidFill>
                <a:latin typeface="Arial"/>
                <a:ea typeface="Arial"/>
                <a:cs typeface="Arial"/>
              </a:rPr>
              <a:t>Luna assigns runway 25C.</a:t>
            </a:r>
          </a:p>
        </p:txBody>
      </p:sp>
      <p:sp>
        <p:nvSpPr>
          <p:cNvPr id="5" name="">
            <a:extLst xmlns:a="http://schemas.openxmlformats.org/drawingml/2006/main">
              <a:ext uri="{FF2B5EF4-FFF2-40B4-BE49-F238E27FC236}">
                <a16:creationId xmlns:a16="http://schemas.microsoft.com/office/drawing/2014/main" id="{082119E2-7CA2-4579-A318-796B51E78125}"/>
              </a:ext>
            </a:extLst>
          </p:cNvPr>
          <p:cNvSpPr>
            <a:spLocks xmlns:a="http://schemas.openxmlformats.org/drawingml/2006/main" noGrp="1"/>
          </p:cNvSpPr>
          <p:nvPr/>
        </p:nvSpPr>
        <p:spPr>
          <a:xfrm xmlns:a="http://schemas.openxmlformats.org/drawingml/2006/main">
            <a:off x="8991600" y="4867275"/>
            <a:ext cx="25146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D4CA"/>
                </a:solidFill>
                <a:latin typeface="Arial"/>
                <a:ea typeface="Arial"/>
                <a:cs typeface="Arial"/>
              </a:defRPr>
            </a:pPr>
            <a:r>
              <a:rPr sz="1650" b="0">
                <a:solidFill>
                  <a:srgbClr val="5DD4CA"/>
                </a:solidFill>
                <a:latin typeface="Arial"/>
                <a:ea typeface="Arial"/>
                <a:cs typeface="Arial"/>
              </a:rPr>
              <a:t>Click the video in Slide Show to play</a:t>
            </a:r>
          </a:p>
        </p:txBody>
      </p:sp>
    </p:spTree>
    <p:extLst>
      <p:ext uri="{BB962C8B-B14F-4D97-AF65-F5344CB8AC3E}">
        <p14:creationId xmlns:p14="http://schemas.microsoft.com/office/powerpoint/2010/main" val="47208714"/>
      </p:ext>
    </p:extLst>
  </p:cSld>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4.xml><?xml version="1.0" encoding="utf-8"?>
<p:sld xmlns:p="http://schemas.openxmlformats.org/presentationml/2006/main">
  <p:cSld>
    <p:bg>
      <p:bgPr>
        <a:solidFill xmlns:a="http://schemas.openxmlformats.org/drawingml/2006/main">
          <a:srgbClr val="0812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0C32B4-A532-4601-A67E-D9727488F533}"/>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5F0F5"/>
                </a:solidFill>
                <a:latin typeface="Arial"/>
                <a:ea typeface="Arial"/>
                <a:cs typeface="Arial"/>
              </a:defRPr>
            </a:pPr>
            <a:r>
              <a:rPr sz="3300" b="1">
                <a:solidFill>
                  <a:srgbClr val="E5F0F5"/>
                </a:solidFill>
                <a:latin typeface="Arial"/>
                <a:ea typeface="Arial"/>
                <a:cs typeface="Arial"/>
              </a:rPr>
              <a:t>Luna: emergency arrivals</a:t>
            </a:r>
          </a:p>
        </p:txBody>
      </p:sp>
      <p:sp>
        <p:nvSpPr>
          <p:cNvPr id="2" name="">
            <a:extLst xmlns:a="http://schemas.openxmlformats.org/drawingml/2006/main">
              <a:ext uri="{FF2B5EF4-FFF2-40B4-BE49-F238E27FC236}">
                <a16:creationId xmlns:a16="http://schemas.microsoft.com/office/drawing/2014/main" id="{72765CE8-B638-41A9-A2CA-6F70B09D58AA}"/>
              </a:ext>
            </a:extLst>
          </p:cNvPr>
          <p:cNvSpPr>
            <a:spLocks xmlns:a="http://schemas.openxmlformats.org/drawingml/2006/main" noGrp="1"/>
          </p:cNvSpPr>
          <p:nvPr/>
        </p:nvSpPr>
        <p:spPr>
          <a:xfrm xmlns:a="http://schemas.openxmlformats.org/drawingml/2006/main">
            <a:off x="609600" y="60579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91A8B7"/>
                </a:solidFill>
                <a:latin typeface="Arial"/>
                <a:ea typeface="Arial"/>
                <a:cs typeface="Arial"/>
              </a:defRPr>
            </a:pPr>
            <a:r>
              <a:rPr sz="1425" b="0">
                <a:solidFill>
                  <a:srgbClr val="91A8B7"/>
                </a:solidFill>
                <a:latin typeface="Arial"/>
                <a:ea typeface="Arial"/>
                <a:cs typeface="Arial"/>
              </a:rPr>
              <a:t>36-second replay at 30× speed. The full episode recorded 7 separation-loss events.</a:t>
            </a:r>
          </a:p>
        </p:txBody>
      </p:sp>
      <p:pic>
        <p:nvPicPr>
          <p:cNvPr id="8" name="luna-emergency.mp4" descr="Actual GPT-6 Luna simulation replay">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ATCVideo"/>
            <p:extLst>
              <p:ext uri="{DAA4B4D4-6D71-4841-9C94-3DE7FCFB9230}">
                <ns3:media xmlns:ns3="http://schemas.microsoft.com/office/powerpoint/2010/main" xmlns:ns4="http://schemas.openxmlformats.org/officeDocument/2006/relationships" ns4:embed="rIdATCMedia"/>
              </p:ext>
            </p:extLst>
          </p:nvPr>
        </p:nvPicPr>
        <p:blipFill>
          <a:blip xmlns:r="http://schemas.openxmlformats.org/officeDocument/2006/relationships" xmlns:a="http://schemas.openxmlformats.org/drawingml/2006/main" r:embed="R6dbd456b93574dae"/>
          <a:stretch xmlns:a="http://schemas.openxmlformats.org/drawingml/2006/main"/>
        </p:blipFill>
        <p:spPr>
          <a:xfrm xmlns:a="http://schemas.openxmlformats.org/drawingml/2006/main">
            <a:off x="609600" y="1466850"/>
            <a:ext cx="8001000" cy="450056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1AEC48D-B4FE-43B2-A9B3-97CD1EFF32F4}"/>
              </a:ext>
            </a:extLst>
          </p:cNvPr>
          <p:cNvSpPr>
            <a:spLocks xmlns:a="http://schemas.openxmlformats.org/drawingml/2006/main" noGrp="1"/>
          </p:cNvSpPr>
          <p:nvPr/>
        </p:nvSpPr>
        <p:spPr>
          <a:xfrm xmlns:a="http://schemas.openxmlformats.org/drawingml/2006/main">
            <a:off x="8991600" y="1743075"/>
            <a:ext cx="26098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E5F0F5"/>
                </a:solidFill>
                <a:latin typeface="Arial"/>
                <a:ea typeface="Arial"/>
                <a:cs typeface="Arial"/>
              </a:defRPr>
            </a:pPr>
            <a:r>
              <a:rPr sz="1875" b="0">
                <a:solidFill>
                  <a:srgbClr val="E5F0F5"/>
                </a:solidFill>
                <a:latin typeface="Arial"/>
                <a:ea typeface="Arial"/>
                <a:cs typeface="Arial"/>
              </a:rPr>
              <a:t>Luna resolves all three emergencies.</a:t>
            </a:r>
          </a:p>
          <a:p xmlns:a="http://schemas.openxmlformats.org/drawingml/2006/main">
            <a:pPr>
              <a:defRPr sz="1875" b="0">
                <a:solidFill>
                  <a:srgbClr val="E5F0F5"/>
                </a:solidFill>
                <a:latin typeface="Arial"/>
                <a:ea typeface="Arial"/>
                <a:cs typeface="Arial"/>
              </a:defRPr>
            </a:pPr>
            <a:r>
              <a:rPr sz="1875" b="0">
                <a:solidFill>
                  <a:srgbClr val="E5F0F5"/>
                </a:solidFill>
                <a:latin typeface="Arial"/>
                <a:ea typeface="Arial"/>
                <a:cs typeface="Arial"/>
              </a:rPr>
              <a:t>Mean emergency wait: 8.7 minutes.</a:t>
            </a:r>
          </a:p>
        </p:txBody>
      </p:sp>
      <p:sp>
        <p:nvSpPr>
          <p:cNvPr id="5" name="">
            <a:extLst xmlns:a="http://schemas.openxmlformats.org/drawingml/2006/main">
              <a:ext uri="{FF2B5EF4-FFF2-40B4-BE49-F238E27FC236}">
                <a16:creationId xmlns:a16="http://schemas.microsoft.com/office/drawing/2014/main" id="{5DE2F319-892B-4908-B721-9C070803DA12}"/>
              </a:ext>
            </a:extLst>
          </p:cNvPr>
          <p:cNvSpPr>
            <a:spLocks xmlns:a="http://schemas.openxmlformats.org/drawingml/2006/main" noGrp="1"/>
          </p:cNvSpPr>
          <p:nvPr/>
        </p:nvSpPr>
        <p:spPr>
          <a:xfrm xmlns:a="http://schemas.openxmlformats.org/drawingml/2006/main">
            <a:off x="8991600" y="4867275"/>
            <a:ext cx="25146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D4CA"/>
                </a:solidFill>
                <a:latin typeface="Arial"/>
                <a:ea typeface="Arial"/>
                <a:cs typeface="Arial"/>
              </a:defRPr>
            </a:pPr>
            <a:r>
              <a:rPr sz="1650" b="0">
                <a:solidFill>
                  <a:srgbClr val="5DD4CA"/>
                </a:solidFill>
                <a:latin typeface="Arial"/>
                <a:ea typeface="Arial"/>
                <a:cs typeface="Arial"/>
              </a:rPr>
              <a:t>Click the video in Slide Show to play</a:t>
            </a:r>
          </a:p>
        </p:txBody>
      </p:sp>
    </p:spTree>
    <p:extLst>
      <p:ext uri="{BB962C8B-B14F-4D97-AF65-F5344CB8AC3E}">
        <p14:creationId xmlns:p14="http://schemas.microsoft.com/office/powerpoint/2010/main" val="995382615"/>
      </p:ext>
    </p:extLst>
  </p:cSld>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5.xml><?xml version="1.0" encoding="utf-8"?>
<p:sld xmlns:p="http://schemas.openxmlformats.org/presentationml/2006/main">
  <p:cSld>
    <p:bg>
      <p:bgPr>
        <a:solidFill xmlns:a="http://schemas.openxmlformats.org/drawingml/2006/main">
          <a:srgbClr val="0812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3BCFF9-72D3-42E1-BB91-BC74595DCCA2}"/>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5F0F5"/>
                </a:solidFill>
                <a:latin typeface="Arial"/>
                <a:ea typeface="Arial"/>
                <a:cs typeface="Arial"/>
              </a:defRPr>
            </a:pPr>
            <a:r>
              <a:rPr sz="3300" b="1">
                <a:solidFill>
                  <a:srgbClr val="E5F0F5"/>
                </a:solidFill>
                <a:latin typeface="Arial"/>
                <a:ea typeface="Arial"/>
                <a:cs typeface="Arial"/>
              </a:rPr>
              <a:t>Luna: wind reversal</a:t>
            </a:r>
          </a:p>
        </p:txBody>
      </p:sp>
      <p:sp>
        <p:nvSpPr>
          <p:cNvPr id="2" name="">
            <a:extLst xmlns:a="http://schemas.openxmlformats.org/drawingml/2006/main">
              <a:ext uri="{FF2B5EF4-FFF2-40B4-BE49-F238E27FC236}">
                <a16:creationId xmlns:a16="http://schemas.microsoft.com/office/drawing/2014/main" id="{314CB815-9988-4602-839C-7832F2DF87B0}"/>
              </a:ext>
            </a:extLst>
          </p:cNvPr>
          <p:cNvSpPr>
            <a:spLocks xmlns:a="http://schemas.openxmlformats.org/drawingml/2006/main" noGrp="1"/>
          </p:cNvSpPr>
          <p:nvPr/>
        </p:nvSpPr>
        <p:spPr>
          <a:xfrm xmlns:a="http://schemas.openxmlformats.org/drawingml/2006/main">
            <a:off x="609600" y="60579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91A8B7"/>
                </a:solidFill>
                <a:latin typeface="Arial"/>
                <a:ea typeface="Arial"/>
                <a:cs typeface="Arial"/>
              </a:defRPr>
            </a:pPr>
            <a:r>
              <a:rPr sz="1425" b="0">
                <a:solidFill>
                  <a:srgbClr val="91A8B7"/>
                </a:solidFill>
                <a:latin typeface="Arial"/>
                <a:ea typeface="Arial"/>
                <a:cs typeface="Arial"/>
              </a:rPr>
              <a:t>35-second replay at 30× speed. The full episode recorded 9 separation-loss events.</a:t>
            </a:r>
          </a:p>
        </p:txBody>
      </p:sp>
      <p:pic>
        <p:nvPicPr>
          <p:cNvPr id="8" name="luna-wind-shift.mp4" descr="Actual GPT-6 Luna simulation replay">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ATCVideo"/>
            <p:extLst>
              <p:ext uri="{DAA4B4D4-6D71-4841-9C94-3DE7FCFB9230}">
                <ns3:media xmlns:ns3="http://schemas.microsoft.com/office/powerpoint/2010/main" xmlns:ns4="http://schemas.openxmlformats.org/officeDocument/2006/relationships" ns4:embed="rIdATCMedia"/>
              </p:ext>
            </p:extLst>
          </p:nvPr>
        </p:nvPicPr>
        <p:blipFill>
          <a:blip xmlns:r="http://schemas.openxmlformats.org/officeDocument/2006/relationships" xmlns:a="http://schemas.openxmlformats.org/drawingml/2006/main" r:embed="Rfee86375aca64819"/>
          <a:stretch xmlns:a="http://schemas.openxmlformats.org/drawingml/2006/main"/>
        </p:blipFill>
        <p:spPr>
          <a:xfrm xmlns:a="http://schemas.openxmlformats.org/drawingml/2006/main">
            <a:off x="609600" y="1466850"/>
            <a:ext cx="8001000" cy="450056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8A9E907-72BE-4850-97C2-2F0211679075}"/>
              </a:ext>
            </a:extLst>
          </p:cNvPr>
          <p:cNvSpPr>
            <a:spLocks xmlns:a="http://schemas.openxmlformats.org/drawingml/2006/main" noGrp="1"/>
          </p:cNvSpPr>
          <p:nvPr/>
        </p:nvSpPr>
        <p:spPr>
          <a:xfrm xmlns:a="http://schemas.openxmlformats.org/drawingml/2006/main">
            <a:off x="8991600" y="1743075"/>
            <a:ext cx="26098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E5F0F5"/>
                </a:solidFill>
                <a:latin typeface="Arial"/>
                <a:ea typeface="Arial"/>
                <a:cs typeface="Arial"/>
              </a:defRPr>
            </a:pPr>
            <a:r>
              <a:rPr sz="1875" b="0">
                <a:solidFill>
                  <a:srgbClr val="E5F0F5"/>
                </a:solidFill>
                <a:latin typeface="Arial"/>
                <a:ea typeface="Arial"/>
                <a:cs typeface="Arial"/>
              </a:rPr>
              <a:t>The active direction changes from 25 to 07.</a:t>
            </a:r>
          </a:p>
          <a:p xmlns:a="http://schemas.openxmlformats.org/drawingml/2006/main">
            <a:pPr>
              <a:defRPr sz="1875" b="0">
                <a:solidFill>
                  <a:srgbClr val="E5F0F5"/>
                </a:solidFill>
                <a:latin typeface="Arial"/>
                <a:ea typeface="Arial"/>
                <a:cs typeface="Arial"/>
              </a:defRPr>
            </a:pPr>
            <a:r>
              <a:rPr sz="1875" b="0">
                <a:solidFill>
                  <a:srgbClr val="E5F0F5"/>
                </a:solidFill>
                <a:latin typeface="Arial"/>
                <a:ea typeface="Arial"/>
                <a:cs typeface="Arial"/>
              </a:rPr>
              <a:t>DLH106 goes around and later lands on 07C.</a:t>
            </a:r>
          </a:p>
        </p:txBody>
      </p:sp>
      <p:sp>
        <p:nvSpPr>
          <p:cNvPr id="5" name="">
            <a:extLst xmlns:a="http://schemas.openxmlformats.org/drawingml/2006/main">
              <a:ext uri="{FF2B5EF4-FFF2-40B4-BE49-F238E27FC236}">
                <a16:creationId xmlns:a16="http://schemas.microsoft.com/office/drawing/2014/main" id="{8653EBCE-6F6B-47E9-9E2F-62CC0F24BABF}"/>
              </a:ext>
            </a:extLst>
          </p:cNvPr>
          <p:cNvSpPr>
            <a:spLocks xmlns:a="http://schemas.openxmlformats.org/drawingml/2006/main" noGrp="1"/>
          </p:cNvSpPr>
          <p:nvPr/>
        </p:nvSpPr>
        <p:spPr>
          <a:xfrm xmlns:a="http://schemas.openxmlformats.org/drawingml/2006/main">
            <a:off x="8991600" y="4867275"/>
            <a:ext cx="25146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D4CA"/>
                </a:solidFill>
                <a:latin typeface="Arial"/>
                <a:ea typeface="Arial"/>
                <a:cs typeface="Arial"/>
              </a:defRPr>
            </a:pPr>
            <a:r>
              <a:rPr sz="1650" b="0">
                <a:solidFill>
                  <a:srgbClr val="5DD4CA"/>
                </a:solidFill>
                <a:latin typeface="Arial"/>
                <a:ea typeface="Arial"/>
                <a:cs typeface="Arial"/>
              </a:rPr>
              <a:t>Click the video in Slide Show to play</a:t>
            </a:r>
          </a:p>
        </p:txBody>
      </p:sp>
    </p:spTree>
    <p:extLst>
      <p:ext uri="{BB962C8B-B14F-4D97-AF65-F5344CB8AC3E}">
        <p14:creationId xmlns:p14="http://schemas.microsoft.com/office/powerpoint/2010/main" val="1412219098"/>
      </p:ext>
    </p:extLst>
  </p:cSld>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6.xml><?xml version="1.0" encoding="utf-8"?>
<p:sld xmlns:p="http://schemas.openxmlformats.org/presentationml/2006/main">
  <p:cSld>
    <p:bg>
      <p:bgPr>
        <a:solidFill xmlns:a="http://schemas.openxmlformats.org/drawingml/2006/main">
          <a:srgbClr val="08121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B0F2D13-5AA2-426C-BAC9-C75CFBA9F9DF}"/>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5F0F5"/>
                </a:solidFill>
                <a:latin typeface="Arial"/>
                <a:ea typeface="Arial"/>
                <a:cs typeface="Arial"/>
              </a:defRPr>
            </a:pPr>
            <a:r>
              <a:rPr sz="3300" b="1">
                <a:solidFill>
                  <a:srgbClr val="E5F0F5"/>
                </a:solidFill>
                <a:latin typeface="Arial"/>
                <a:ea typeface="Arial"/>
                <a:cs typeface="Arial"/>
              </a:rPr>
              <a:t>Scores across the three scenarios</a:t>
            </a:r>
          </a:p>
        </p:txBody>
      </p:sp>
      <p:sp>
        <p:nvSpPr>
          <p:cNvPr id="2" name="">
            <a:extLst xmlns:a="http://schemas.openxmlformats.org/drawingml/2006/main">
              <a:ext uri="{FF2B5EF4-FFF2-40B4-BE49-F238E27FC236}">
                <a16:creationId xmlns:a16="http://schemas.microsoft.com/office/drawing/2014/main" id="{A7AEB976-8321-4681-9DC6-A551AA436333}"/>
              </a:ext>
            </a:extLst>
          </p:cNvPr>
          <p:cNvSpPr>
            <a:spLocks xmlns:a="http://schemas.openxmlformats.org/drawingml/2006/main" noGrp="1"/>
          </p:cNvSpPr>
          <p:nvPr/>
        </p:nvSpPr>
        <p:spPr>
          <a:xfrm xmlns:a="http://schemas.openxmlformats.org/drawingml/2006/main">
            <a:off x="609600" y="60579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91A8B7"/>
                </a:solidFill>
                <a:latin typeface="Arial"/>
                <a:ea typeface="Arial"/>
                <a:cs typeface="Arial"/>
              </a:defRPr>
            </a:pPr>
            <a:r>
              <a:rPr sz="1425" b="0">
                <a:solidFill>
                  <a:srgbClr val="91A8B7"/>
                </a:solidFill>
                <a:latin typeface="Arial"/>
                <a:ea typeface="Arial"/>
                <a:cs typeface="Arial"/>
              </a:rPr>
              <a:t>Higher is better. These scores combine throughput, safety penalties and waiting-time penalties.</a:t>
            </a:r>
          </a:p>
        </p:txBody>
      </p:sp>
      <p:graphicFrame>
        <p:nvGraphicFramePr>
          <p:cNvPr id="6" name="Chart"/>
          <p:cNvGraphicFramePr/>
          <p:nvPr/>
        </p:nvGraphicFramePr>
        <p:xfrm>
          <a:off xmlns:a="http://schemas.openxmlformats.org/drawingml/2006/main" x="609600" y="1457325"/>
          <a:ext xmlns:a="http://schemas.openxmlformats.org/drawingml/2006/main" cx="10972800" cy="4295775"/>
        </p:xfrm>
        <a:graphic xmlns:a="http://schemas.openxmlformats.org/drawingml/2006/main">
          <a:graphicData uri="http://schemas.openxmlformats.org/drawingml/2006/chart">
            <c:chart xmlns:r="http://schemas.openxmlformats.org/officeDocument/2006/relationships" xmlns:c="http://schemas.openxmlformats.org/drawingml/2006/chart" r:id="Rf15eecc03a82477b"/>
          </a:graphicData>
        </a:graphic>
      </p:graphicFrame>
    </p:spTree>
    <p:extLst>
      <p:ext uri="{BB962C8B-B14F-4D97-AF65-F5344CB8AC3E}">
        <p14:creationId xmlns:p14="http://schemas.microsoft.com/office/powerpoint/2010/main" val="1117701467"/>
      </p:ext>
    </p:extLst>
  </p:cSld>
</p:sld>
</file>

<file path=ppt/slides/slide7.xml><?xml version="1.0" encoding="utf-8"?>
<p:sld xmlns:p="http://schemas.openxmlformats.org/presentationml/2006/main">
  <p:cSld>
    <p:bg>
      <p:bgPr>
        <a:solidFill xmlns:a="http://schemas.openxmlformats.org/drawingml/2006/main">
          <a:srgbClr val="08121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E33E25-642E-473B-8365-E9438F55EB96}"/>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5F0F5"/>
                </a:solidFill>
                <a:latin typeface="Arial"/>
                <a:ea typeface="Arial"/>
                <a:cs typeface="Arial"/>
              </a:defRPr>
            </a:pPr>
            <a:r>
              <a:rPr sz="3300" b="1">
                <a:solidFill>
                  <a:srgbClr val="E5F0F5"/>
                </a:solidFill>
                <a:latin typeface="Arial"/>
                <a:ea typeface="Arial"/>
                <a:cs typeface="Arial"/>
              </a:rPr>
              <a:t>Waiting time and arrival outcomes</a:t>
            </a:r>
          </a:p>
        </p:txBody>
      </p:sp>
      <p:sp>
        <p:nvSpPr>
          <p:cNvPr id="2" name="">
            <a:extLst xmlns:a="http://schemas.openxmlformats.org/drawingml/2006/main">
              <a:ext uri="{FF2B5EF4-FFF2-40B4-BE49-F238E27FC236}">
                <a16:creationId xmlns:a16="http://schemas.microsoft.com/office/drawing/2014/main" id="{8E6D1D9F-D4FD-4BA8-A28F-94FBCE69C2B4}"/>
              </a:ext>
            </a:extLst>
          </p:cNvPr>
          <p:cNvSpPr>
            <a:spLocks xmlns:a="http://schemas.openxmlformats.org/drawingml/2006/main" noGrp="1"/>
          </p:cNvSpPr>
          <p:nvPr/>
        </p:nvSpPr>
        <p:spPr>
          <a:xfrm xmlns:a="http://schemas.openxmlformats.org/drawingml/2006/main">
            <a:off x="609600" y="60579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91A8B7"/>
                </a:solidFill>
                <a:latin typeface="Arial"/>
                <a:ea typeface="Arial"/>
                <a:cs typeface="Arial"/>
              </a:defRPr>
            </a:pPr>
            <a:r>
              <a:rPr sz="1425" b="0">
                <a:solidFill>
                  <a:srgbClr val="91A8B7"/>
                </a:solidFill>
                <a:latin typeface="Arial"/>
                <a:ea typeface="Arial"/>
                <a:cs typeface="Arial"/>
              </a:rPr>
              <a:t>Means in minutes. Arrival outcomes show landed / pending / failed. Lower waits need to be read with outcomes.</a:t>
            </a:r>
          </a:p>
        </p:txBody>
      </p:sp>
      <p:graphicFrame>
        <p:nvGraphicFramePr>
          <p:cNvPr id="7" name=""/>
          <p:cNvGraphicFramePr/>
          <p:nvPr/>
        </p:nvGraphicFramePr>
        <p:xfrm>
          <a:off xmlns:a="http://schemas.openxmlformats.org/drawingml/2006/main" x="609600" y="1581150"/>
          <a:ext xmlns:a="http://schemas.openxmlformats.org/drawingml/2006/main" cx="10972800" cy="3600450"/>
        </p:xfrm>
        <a:graphic xmlns:a="http://schemas.openxmlformats.org/drawingml/2006/main">
          <a:graphicData uri="http://schemas.openxmlformats.org/drawingml/2006/table">
            <a:tbl>
              <a:tblPr/>
              <a:tblGrid>
                <a:gridCol w="2238375"/>
                <a:gridCol w="1000125"/>
                <a:gridCol w="1619250"/>
                <a:gridCol w="1619250"/>
                <a:gridCol w="1809750"/>
                <a:gridCol w="2686050"/>
              </a:tblGrid>
              <a:tr h="514350">
                <a:tc>
                  <a:txBody>
                    <a:bodyPr>
                      <a:noAutofit/>
                    </a:bodyPr>
                    <a:lstStyle/>
                    <a:p>
                      <a:r>
                        <a:rPr sz="1650" b="1">
                          <a:solidFill>
                            <a:srgbClr val="5DD4CA"/>
                          </a:solidFill>
                          <a:latin typeface="Arial"/>
                          <a:ea typeface="Arial"/>
                          <a:cs typeface="Arial"/>
                        </a:rPr>
                        <a:t>Scenario</a:t>
                      </a:r>
                    </a:p>
                  </a:txBody>
                  <a:tcPr marL="114300" marR="95250" marT="76200" marB="76200" anchor="ctr">
                    <a:solidFill>
                      <a:srgbClr val="132532"/>
                    </a:solidFill>
                  </a:tcPr>
                </a:tc>
                <a:tc>
                  <a:txBody>
                    <a:bodyPr>
                      <a:noAutofit/>
                    </a:bodyPr>
                    <a:lstStyle/>
                    <a:p>
                      <a:r>
                        <a:rPr sz="1650" b="1">
                          <a:solidFill>
                            <a:srgbClr val="5DD4CA"/>
                          </a:solidFill>
                          <a:latin typeface="Arial"/>
                          <a:ea typeface="Arial"/>
                          <a:cs typeface="Arial"/>
                        </a:rPr>
                        <a:t>Model</a:t>
                      </a:r>
                    </a:p>
                  </a:txBody>
                  <a:tcPr marL="114300" marR="95250" marT="76200" marB="76200" anchor="ctr">
                    <a:solidFill>
                      <a:srgbClr val="132532"/>
                    </a:solidFill>
                  </a:tcPr>
                </a:tc>
                <a:tc>
                  <a:txBody>
                    <a:bodyPr>
                      <a:noAutofit/>
                    </a:bodyPr>
                    <a:lstStyle/>
                    <a:p>
                      <a:r>
                        <a:rPr sz="1650" b="1">
                          <a:solidFill>
                            <a:srgbClr val="5DD4CA"/>
                          </a:solidFill>
                          <a:latin typeface="Arial"/>
                          <a:ea typeface="Arial"/>
                          <a:cs typeface="Arial"/>
                        </a:rPr>
                        <a:t>Ground</a:t>
                      </a:r>
                    </a:p>
                    <a:p>
                      <a:r>
                        <a:rPr sz="1650" b="1">
                          <a:solidFill>
                            <a:srgbClr val="5DD4CA"/>
                          </a:solidFill>
                          <a:latin typeface="Arial"/>
                          <a:ea typeface="Arial"/>
                          <a:cs typeface="Arial"/>
                        </a:rPr>
                        <a:t>wait</a:t>
                      </a:r>
                    </a:p>
                  </a:txBody>
                  <a:tcPr marL="114300" marR="95250" marT="76200" marB="76200" anchor="ctr">
                    <a:solidFill>
                      <a:srgbClr val="132532"/>
                    </a:solidFill>
                  </a:tcPr>
                </a:tc>
                <a:tc>
                  <a:txBody>
                    <a:bodyPr>
                      <a:noAutofit/>
                    </a:bodyPr>
                    <a:lstStyle/>
                    <a:p>
                      <a:r>
                        <a:rPr sz="1650" b="1">
                          <a:solidFill>
                            <a:srgbClr val="5DD4CA"/>
                          </a:solidFill>
                          <a:latin typeface="Arial"/>
                          <a:ea typeface="Arial"/>
                          <a:cs typeface="Arial"/>
                        </a:rPr>
                        <a:t>Landing</a:t>
                      </a:r>
                    </a:p>
                    <a:p>
                      <a:r>
                        <a:rPr sz="1650" b="1">
                          <a:solidFill>
                            <a:srgbClr val="5DD4CA"/>
                          </a:solidFill>
                          <a:latin typeface="Arial"/>
                          <a:ea typeface="Arial"/>
                          <a:cs typeface="Arial"/>
                        </a:rPr>
                        <a:t>time</a:t>
                      </a:r>
                    </a:p>
                  </a:txBody>
                  <a:tcPr marL="114300" marR="95250" marT="76200" marB="76200" anchor="ctr">
                    <a:solidFill>
                      <a:srgbClr val="132532"/>
                    </a:solidFill>
                  </a:tcPr>
                </a:tc>
                <a:tc>
                  <a:txBody>
                    <a:bodyPr>
                      <a:noAutofit/>
                    </a:bodyPr>
                    <a:lstStyle/>
                    <a:p>
                      <a:r>
                        <a:rPr sz="1650" b="1">
                          <a:solidFill>
                            <a:srgbClr val="5DD4CA"/>
                          </a:solidFill>
                          <a:latin typeface="Arial"/>
                          <a:ea typeface="Arial"/>
                          <a:cs typeface="Arial"/>
                        </a:rPr>
                        <a:t>Emergency</a:t>
                      </a:r>
                    </a:p>
                    <a:p>
                      <a:r>
                        <a:rPr sz="1650" b="1">
                          <a:solidFill>
                            <a:srgbClr val="5DD4CA"/>
                          </a:solidFill>
                          <a:latin typeface="Arial"/>
                          <a:ea typeface="Arial"/>
                          <a:cs typeface="Arial"/>
                        </a:rPr>
                        <a:t>wait</a:t>
                      </a:r>
                    </a:p>
                  </a:txBody>
                  <a:tcPr marL="114300" marR="95250" marT="76200" marB="76200" anchor="ctr">
                    <a:solidFill>
                      <a:srgbClr val="132532"/>
                    </a:solidFill>
                  </a:tcPr>
                </a:tc>
                <a:tc>
                  <a:txBody>
                    <a:bodyPr>
                      <a:noAutofit/>
                    </a:bodyPr>
                    <a:lstStyle/>
                    <a:p>
                      <a:r>
                        <a:rPr sz="1650" b="1">
                          <a:solidFill>
                            <a:srgbClr val="5DD4CA"/>
                          </a:solidFill>
                          <a:latin typeface="Arial"/>
                          <a:ea typeface="Arial"/>
                          <a:cs typeface="Arial"/>
                        </a:rPr>
                        <a:t>Arrival</a:t>
                      </a:r>
                    </a:p>
                    <a:p>
                      <a:r>
                        <a:rPr sz="1650" b="1">
                          <a:solidFill>
                            <a:srgbClr val="5DD4CA"/>
                          </a:solidFill>
                          <a:latin typeface="Arial"/>
                          <a:ea typeface="Arial"/>
                          <a:cs typeface="Arial"/>
                        </a:rPr>
                        <a:t>outcomes</a:t>
                      </a:r>
                    </a:p>
                  </a:txBody>
                  <a:tcPr marL="114300" marR="95250" marT="76200" marB="76200" anchor="ctr">
                    <a:solidFill>
                      <a:srgbClr val="132532"/>
                    </a:solidFill>
                  </a:tcPr>
                </a:tc>
              </a:tr>
              <a:tr h="514350">
                <a:tc>
                  <a:txBody>
                    <a:bodyPr>
                      <a:noAutofit/>
                    </a:bodyPr>
                    <a:lstStyle/>
                    <a:p>
                      <a:r>
                        <a:rPr sz="1650" b="0">
                          <a:solidFill>
                            <a:srgbClr val="E5F0F5"/>
                          </a:solidFill>
                          <a:latin typeface="Arial"/>
                          <a:ea typeface="Arial"/>
                          <a:cs typeface="Arial"/>
                        </a:rPr>
                        <a:t>Runway closure</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Luna</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5.1</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14.8</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n/a</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5 / 5 / 3</a:t>
                      </a:r>
                    </a:p>
                  </a:txBody>
                  <a:tcPr marL="114300" marR="95250" marT="76200" marB="76200" anchor="ctr">
                    <a:solidFill>
                      <a:srgbClr val="08121B"/>
                    </a:solidFill>
                  </a:tcPr>
                </a:tc>
              </a:tr>
              <a:tr h="514350">
                <a:tc>
                  <a:txBody>
                    <a:bodyPr>
                      <a:noAutofit/>
                    </a:bodyPr>
                    <a:lstStyle/>
                    <a:p>
                      <a:r>
                        <a:rPr sz="1650" b="0">
                          <a:solidFill>
                            <a:srgbClr val="E5F0F5"/>
                          </a:solidFill>
                          <a:latin typeface="Arial"/>
                          <a:ea typeface="Arial"/>
                          <a:cs typeface="Arial"/>
                        </a:rPr>
                        <a:t>Runway closure</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GLM</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5.9</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13.9</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n/a</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7 / 6 / 0</a:t>
                      </a:r>
                    </a:p>
                  </a:txBody>
                  <a:tcPr marL="114300" marR="95250" marT="76200" marB="76200" anchor="ctr">
                    <a:solidFill>
                      <a:srgbClr val="08121B"/>
                    </a:solidFill>
                  </a:tcPr>
                </a:tc>
              </a:tr>
              <a:tr h="514350">
                <a:tc>
                  <a:txBody>
                    <a:bodyPr>
                      <a:noAutofit/>
                    </a:bodyPr>
                    <a:lstStyle/>
                    <a:p>
                      <a:r>
                        <a:rPr sz="1650" b="0">
                          <a:solidFill>
                            <a:srgbClr val="E5F0F5"/>
                          </a:solidFill>
                          <a:latin typeface="Arial"/>
                          <a:ea typeface="Arial"/>
                          <a:cs typeface="Arial"/>
                        </a:rPr>
                        <a:t>Emergencies</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Luna</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7.8</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13.3</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8.7</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9 / 4 / 0</a:t>
                      </a:r>
                    </a:p>
                  </a:txBody>
                  <a:tcPr marL="114300" marR="95250" marT="76200" marB="76200" anchor="ctr">
                    <a:solidFill>
                      <a:srgbClr val="08121B"/>
                    </a:solidFill>
                  </a:tcPr>
                </a:tc>
              </a:tr>
              <a:tr h="514350">
                <a:tc>
                  <a:txBody>
                    <a:bodyPr>
                      <a:noAutofit/>
                    </a:bodyPr>
                    <a:lstStyle/>
                    <a:p>
                      <a:r>
                        <a:rPr sz="1650" b="0">
                          <a:solidFill>
                            <a:srgbClr val="E5F0F5"/>
                          </a:solidFill>
                          <a:latin typeface="Arial"/>
                          <a:ea typeface="Arial"/>
                          <a:cs typeface="Arial"/>
                        </a:rPr>
                        <a:t>Emergencies</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GLM</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5.1</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13.9</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8.5</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8 / 5 / 0</a:t>
                      </a:r>
                    </a:p>
                  </a:txBody>
                  <a:tcPr marL="114300" marR="95250" marT="76200" marB="76200" anchor="ctr">
                    <a:solidFill>
                      <a:srgbClr val="08121B"/>
                    </a:solidFill>
                  </a:tcPr>
                </a:tc>
              </a:tr>
              <a:tr h="514350">
                <a:tc>
                  <a:txBody>
                    <a:bodyPr>
                      <a:noAutofit/>
                    </a:bodyPr>
                    <a:lstStyle/>
                    <a:p>
                      <a:r>
                        <a:rPr sz="1650" b="0">
                          <a:solidFill>
                            <a:srgbClr val="E5F0F5"/>
                          </a:solidFill>
                          <a:latin typeface="Arial"/>
                          <a:ea typeface="Arial"/>
                          <a:cs typeface="Arial"/>
                        </a:rPr>
                        <a:t>Wind reversal</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Luna</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6.1</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16.0</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n/a</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5 / 8 / 0</a:t>
                      </a:r>
                    </a:p>
                  </a:txBody>
                  <a:tcPr marL="114300" marR="95250" marT="76200" marB="76200" anchor="ctr">
                    <a:solidFill>
                      <a:srgbClr val="08121B"/>
                    </a:solidFill>
                  </a:tcPr>
                </a:tc>
              </a:tr>
              <a:tr h="514350">
                <a:tc>
                  <a:txBody>
                    <a:bodyPr>
                      <a:noAutofit/>
                    </a:bodyPr>
                    <a:lstStyle/>
                    <a:p>
                      <a:r>
                        <a:rPr sz="1650" b="0">
                          <a:solidFill>
                            <a:srgbClr val="E5F0F5"/>
                          </a:solidFill>
                          <a:latin typeface="Arial"/>
                          <a:ea typeface="Arial"/>
                          <a:cs typeface="Arial"/>
                        </a:rPr>
                        <a:t>Wind reversal</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GLM</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5.4</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13.7</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n/a</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8 / 5 / 0</a:t>
                      </a:r>
                    </a:p>
                  </a:txBody>
                  <a:tcPr marL="114300" marR="95250" marT="76200" marB="76200" anchor="ctr">
                    <a:solidFill>
                      <a:srgbClr val="08121B"/>
                    </a:solidFill>
                  </a:tcPr>
                </a:tc>
              </a:tr>
            </a:tbl>
          </a:graphicData>
        </a:graphic>
      </p:graphicFrame>
      <p:sp>
        <p:nvSpPr>
          <p:cNvPr id="4" name="">
            <a:extLst xmlns:a="http://schemas.openxmlformats.org/drawingml/2006/main">
              <a:ext uri="{FF2B5EF4-FFF2-40B4-BE49-F238E27FC236}">
                <a16:creationId xmlns:a16="http://schemas.microsoft.com/office/drawing/2014/main" id="{D1AB1F31-D348-4273-925A-56B864ADB49E}"/>
              </a:ext>
            </a:extLst>
          </p:cNvPr>
          <p:cNvSpPr>
            <a:spLocks xmlns:a="http://schemas.openxmlformats.org/drawingml/2006/main" noGrp="1"/>
          </p:cNvSpPr>
          <p:nvPr/>
        </p:nvSpPr>
        <p:spPr>
          <a:xfrm xmlns:a="http://schemas.openxmlformats.org/drawingml/2006/main">
            <a:off x="609600" y="5381625"/>
            <a:ext cx="10906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91A8B7"/>
                </a:solidFill>
                <a:latin typeface="Arial"/>
                <a:ea typeface="Arial"/>
                <a:cs typeface="Arial"/>
              </a:defRPr>
            </a:pPr>
            <a:r>
              <a:rPr sz="1650" b="0">
                <a:solidFill>
                  <a:srgbClr val="91A8B7"/>
                </a:solidFill>
                <a:latin typeface="Arial"/>
                <a:ea typeface="Arial"/>
                <a:cs typeface="Arial"/>
              </a:rPr>
              <a:t>Landing time starts at sector entry and includes normal approach flight. Pending arrivals contribute time observed at the 30-minute horizon.</a:t>
            </a:r>
          </a:p>
        </p:txBody>
      </p:sp>
    </p:spTree>
    <p:extLst>
      <p:ext uri="{BB962C8B-B14F-4D97-AF65-F5344CB8AC3E}">
        <p14:creationId xmlns:p14="http://schemas.microsoft.com/office/powerpoint/2010/main" val="443962137"/>
      </p:ext>
    </p:extLst>
  </p:cSld>
</p:sld>
</file>

<file path=ppt/slides/slide8.xml><?xml version="1.0" encoding="utf-8"?>
<p:sld xmlns:p="http://schemas.openxmlformats.org/presentationml/2006/main">
  <p:cSld>
    <p:bg>
      <p:bgPr>
        <a:solidFill xmlns:a="http://schemas.openxmlformats.org/drawingml/2006/main">
          <a:srgbClr val="08121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989215A-7B31-4C08-B78D-AADDE4AC8189}"/>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5F0F5"/>
                </a:solidFill>
                <a:latin typeface="Arial"/>
                <a:ea typeface="Arial"/>
                <a:cs typeface="Arial"/>
              </a:defRPr>
            </a:pPr>
            <a:r>
              <a:rPr sz="3300" b="1">
                <a:solidFill>
                  <a:srgbClr val="E5F0F5"/>
                </a:solidFill>
                <a:latin typeface="Arial"/>
                <a:ea typeface="Arial"/>
                <a:cs typeface="Arial"/>
              </a:rPr>
              <a:t>Safety outcomes</a:t>
            </a:r>
          </a:p>
        </p:txBody>
      </p:sp>
      <p:sp>
        <p:nvSpPr>
          <p:cNvPr id="2" name="">
            <a:extLst xmlns:a="http://schemas.openxmlformats.org/drawingml/2006/main">
              <a:ext uri="{FF2B5EF4-FFF2-40B4-BE49-F238E27FC236}">
                <a16:creationId xmlns:a16="http://schemas.microsoft.com/office/drawing/2014/main" id="{5A0A6769-0BF6-4869-89D0-007272400915}"/>
              </a:ext>
            </a:extLst>
          </p:cNvPr>
          <p:cNvSpPr>
            <a:spLocks xmlns:a="http://schemas.openxmlformats.org/drawingml/2006/main" noGrp="1"/>
          </p:cNvSpPr>
          <p:nvPr/>
        </p:nvSpPr>
        <p:spPr>
          <a:xfrm xmlns:a="http://schemas.openxmlformats.org/drawingml/2006/main">
            <a:off x="609600" y="60579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91A8B7"/>
                </a:solidFill>
                <a:latin typeface="Arial"/>
                <a:ea typeface="Arial"/>
                <a:cs typeface="Arial"/>
              </a:defRPr>
            </a:pPr>
            <a:r>
              <a:rPr sz="1425" b="0">
                <a:solidFill>
                  <a:srgbClr val="91A8B7"/>
                </a:solidFill>
                <a:latin typeface="Arial"/>
                <a:ea typeface="Arial"/>
                <a:cs typeface="Arial"/>
              </a:rPr>
              <a:t>Separation exposure sums seconds for each aircraft pair below both separation thresholds.</a:t>
            </a:r>
          </a:p>
        </p:txBody>
      </p:sp>
      <p:graphicFrame>
        <p:nvGraphicFramePr>
          <p:cNvPr id="6" name=""/>
          <p:cNvGraphicFramePr/>
          <p:nvPr/>
        </p:nvGraphicFramePr>
        <p:xfrm>
          <a:off xmlns:a="http://schemas.openxmlformats.org/drawingml/2006/main" x="609600" y="1581150"/>
          <a:ext xmlns:a="http://schemas.openxmlformats.org/drawingml/2006/main" cx="10972800" cy="3810000"/>
        </p:xfrm>
        <a:graphic xmlns:a="http://schemas.openxmlformats.org/drawingml/2006/main">
          <a:graphicData uri="http://schemas.openxmlformats.org/drawingml/2006/table">
            <a:tbl>
              <a:tblPr/>
              <a:tblGrid>
                <a:gridCol w="2238375"/>
                <a:gridCol w="1000125"/>
                <a:gridCol w="1428750"/>
                <a:gridCol w="2000250"/>
                <a:gridCol w="2590800"/>
                <a:gridCol w="1714500"/>
              </a:tblGrid>
              <a:tr h="544286">
                <a:tc>
                  <a:txBody>
                    <a:bodyPr>
                      <a:noAutofit/>
                    </a:bodyPr>
                    <a:lstStyle/>
                    <a:p>
                      <a:r>
                        <a:rPr sz="1650" b="1">
                          <a:solidFill>
                            <a:srgbClr val="5DD4CA"/>
                          </a:solidFill>
                          <a:latin typeface="Arial"/>
                          <a:ea typeface="Arial"/>
                          <a:cs typeface="Arial"/>
                        </a:rPr>
                        <a:t>Scenario</a:t>
                      </a:r>
                    </a:p>
                  </a:txBody>
                  <a:tcPr marL="114300" marR="95250" marT="76200" marB="76200" anchor="ctr">
                    <a:solidFill>
                      <a:srgbClr val="132532"/>
                    </a:solidFill>
                  </a:tcPr>
                </a:tc>
                <a:tc>
                  <a:txBody>
                    <a:bodyPr>
                      <a:noAutofit/>
                    </a:bodyPr>
                    <a:lstStyle/>
                    <a:p>
                      <a:r>
                        <a:rPr sz="1650" b="1">
                          <a:solidFill>
                            <a:srgbClr val="5DD4CA"/>
                          </a:solidFill>
                          <a:latin typeface="Arial"/>
                          <a:ea typeface="Arial"/>
                          <a:cs typeface="Arial"/>
                        </a:rPr>
                        <a:t>Model</a:t>
                      </a:r>
                    </a:p>
                  </a:txBody>
                  <a:tcPr marL="114300" marR="95250" marT="76200" marB="76200" anchor="ctr">
                    <a:solidFill>
                      <a:srgbClr val="132532"/>
                    </a:solidFill>
                  </a:tcPr>
                </a:tc>
                <a:tc>
                  <a:txBody>
                    <a:bodyPr>
                      <a:noAutofit/>
                    </a:bodyPr>
                    <a:lstStyle/>
                    <a:p>
                      <a:r>
                        <a:rPr sz="1650" b="1">
                          <a:solidFill>
                            <a:srgbClr val="5DD4CA"/>
                          </a:solidFill>
                          <a:latin typeface="Arial"/>
                          <a:ea typeface="Arial"/>
                          <a:cs typeface="Arial"/>
                        </a:rPr>
                        <a:t>Collisions</a:t>
                      </a:r>
                    </a:p>
                  </a:txBody>
                  <a:tcPr marL="114300" marR="95250" marT="76200" marB="76200" anchor="ctr">
                    <a:solidFill>
                      <a:srgbClr val="132532"/>
                    </a:solidFill>
                  </a:tcPr>
                </a:tc>
                <a:tc>
                  <a:txBody>
                    <a:bodyPr>
                      <a:noAutofit/>
                    </a:bodyPr>
                    <a:lstStyle/>
                    <a:p>
                      <a:r>
                        <a:rPr sz="1650" b="1">
                          <a:solidFill>
                            <a:srgbClr val="5DD4CA"/>
                          </a:solidFill>
                          <a:latin typeface="Arial"/>
                          <a:ea typeface="Arial"/>
                          <a:cs typeface="Arial"/>
                        </a:rPr>
                        <a:t>Separation</a:t>
                      </a:r>
                    </a:p>
                    <a:p>
                      <a:r>
                        <a:rPr sz="1650" b="1">
                          <a:solidFill>
                            <a:srgbClr val="5DD4CA"/>
                          </a:solidFill>
                          <a:latin typeface="Arial"/>
                          <a:ea typeface="Arial"/>
                          <a:cs typeface="Arial"/>
                        </a:rPr>
                        <a:t>events</a:t>
                      </a:r>
                    </a:p>
                  </a:txBody>
                  <a:tcPr marL="114300" marR="95250" marT="76200" marB="76200" anchor="ctr">
                    <a:solidFill>
                      <a:srgbClr val="132532"/>
                    </a:solidFill>
                  </a:tcPr>
                </a:tc>
                <a:tc>
                  <a:txBody>
                    <a:bodyPr>
                      <a:noAutofit/>
                    </a:bodyPr>
                    <a:lstStyle/>
                    <a:p>
                      <a:r>
                        <a:rPr sz="1650" b="1">
                          <a:solidFill>
                            <a:srgbClr val="5DD4CA"/>
                          </a:solidFill>
                          <a:latin typeface="Arial"/>
                          <a:ea typeface="Arial"/>
                          <a:cs typeface="Arial"/>
                        </a:rPr>
                        <a:t>Pair-minutes</a:t>
                      </a:r>
                    </a:p>
                    <a:p>
                      <a:r>
                        <a:rPr sz="1650" b="1">
                          <a:solidFill>
                            <a:srgbClr val="5DD4CA"/>
                          </a:solidFill>
                          <a:latin typeface="Arial"/>
                          <a:ea typeface="Arial"/>
                          <a:cs typeface="Arial"/>
                        </a:rPr>
                        <a:t>below minima</a:t>
                      </a:r>
                    </a:p>
                  </a:txBody>
                  <a:tcPr marL="114300" marR="95250" marT="76200" marB="76200" anchor="ctr">
                    <a:solidFill>
                      <a:srgbClr val="132532"/>
                    </a:solidFill>
                  </a:tcPr>
                </a:tc>
                <a:tc>
                  <a:txBody>
                    <a:bodyPr>
                      <a:noAutofit/>
                    </a:bodyPr>
                    <a:lstStyle/>
                    <a:p>
                      <a:r>
                        <a:rPr sz="1650" b="1">
                          <a:solidFill>
                            <a:srgbClr val="5DD4CA"/>
                          </a:solidFill>
                          <a:latin typeface="Arial"/>
                          <a:ea typeface="Arial"/>
                          <a:cs typeface="Arial"/>
                        </a:rPr>
                        <a:t>Wake</a:t>
                      </a:r>
                    </a:p>
                    <a:p>
                      <a:r>
                        <a:rPr sz="1650" b="1">
                          <a:solidFill>
                            <a:srgbClr val="5DD4CA"/>
                          </a:solidFill>
                          <a:latin typeface="Arial"/>
                          <a:ea typeface="Arial"/>
                          <a:cs typeface="Arial"/>
                        </a:rPr>
                        <a:t>violations</a:t>
                      </a:r>
                    </a:p>
                  </a:txBody>
                  <a:tcPr marL="114300" marR="95250" marT="76200" marB="76200" anchor="ctr">
                    <a:solidFill>
                      <a:srgbClr val="132532"/>
                    </a:solidFill>
                  </a:tcPr>
                </a:tc>
              </a:tr>
              <a:tr h="544286">
                <a:tc>
                  <a:txBody>
                    <a:bodyPr>
                      <a:noAutofit/>
                    </a:bodyPr>
                    <a:lstStyle/>
                    <a:p>
                      <a:r>
                        <a:rPr sz="1650" b="0">
                          <a:solidFill>
                            <a:srgbClr val="E5F0F5"/>
                          </a:solidFill>
                          <a:latin typeface="Arial"/>
                          <a:ea typeface="Arial"/>
                          <a:cs typeface="Arial"/>
                        </a:rPr>
                        <a:t>Runway closure</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Luna</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0</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3</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2.2</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0</a:t>
                      </a:r>
                    </a:p>
                  </a:txBody>
                  <a:tcPr marL="114300" marR="95250" marT="76200" marB="76200" anchor="ctr">
                    <a:solidFill>
                      <a:srgbClr val="08121B"/>
                    </a:solidFill>
                  </a:tcPr>
                </a:tc>
              </a:tr>
              <a:tr h="544286">
                <a:tc>
                  <a:txBody>
                    <a:bodyPr>
                      <a:noAutofit/>
                    </a:bodyPr>
                    <a:lstStyle/>
                    <a:p>
                      <a:r>
                        <a:rPr sz="1650" b="0">
                          <a:solidFill>
                            <a:srgbClr val="E5F0F5"/>
                          </a:solidFill>
                          <a:latin typeface="Arial"/>
                          <a:ea typeface="Arial"/>
                          <a:cs typeface="Arial"/>
                        </a:rPr>
                        <a:t>Runway closure</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GLM</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0</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21</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18.4</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1</a:t>
                      </a:r>
                    </a:p>
                  </a:txBody>
                  <a:tcPr marL="114300" marR="95250" marT="76200" marB="76200" anchor="ctr">
                    <a:solidFill>
                      <a:srgbClr val="08121B"/>
                    </a:solidFill>
                  </a:tcPr>
                </a:tc>
              </a:tr>
              <a:tr h="544286">
                <a:tc>
                  <a:txBody>
                    <a:bodyPr>
                      <a:noAutofit/>
                    </a:bodyPr>
                    <a:lstStyle/>
                    <a:p>
                      <a:r>
                        <a:rPr sz="1650" b="0">
                          <a:solidFill>
                            <a:srgbClr val="E5F0F5"/>
                          </a:solidFill>
                          <a:latin typeface="Arial"/>
                          <a:ea typeface="Arial"/>
                          <a:cs typeface="Arial"/>
                        </a:rPr>
                        <a:t>Emergencies</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Luna</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0</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7</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6.3</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0</a:t>
                      </a:r>
                    </a:p>
                  </a:txBody>
                  <a:tcPr marL="114300" marR="95250" marT="76200" marB="76200" anchor="ctr">
                    <a:solidFill>
                      <a:srgbClr val="08121B"/>
                    </a:solidFill>
                  </a:tcPr>
                </a:tc>
              </a:tr>
              <a:tr h="544286">
                <a:tc>
                  <a:txBody>
                    <a:bodyPr>
                      <a:noAutofit/>
                    </a:bodyPr>
                    <a:lstStyle/>
                    <a:p>
                      <a:r>
                        <a:rPr sz="1650" b="0">
                          <a:solidFill>
                            <a:srgbClr val="E5F0F5"/>
                          </a:solidFill>
                          <a:latin typeface="Arial"/>
                          <a:ea typeface="Arial"/>
                          <a:cs typeface="Arial"/>
                        </a:rPr>
                        <a:t>Emergencies</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GLM</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0</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10</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8.4</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1</a:t>
                      </a:r>
                    </a:p>
                  </a:txBody>
                  <a:tcPr marL="114300" marR="95250" marT="76200" marB="76200" anchor="ctr">
                    <a:solidFill>
                      <a:srgbClr val="08121B"/>
                    </a:solidFill>
                  </a:tcPr>
                </a:tc>
              </a:tr>
              <a:tr h="544286">
                <a:tc>
                  <a:txBody>
                    <a:bodyPr>
                      <a:noAutofit/>
                    </a:bodyPr>
                    <a:lstStyle/>
                    <a:p>
                      <a:r>
                        <a:rPr sz="1650" b="0">
                          <a:solidFill>
                            <a:srgbClr val="E5F0F5"/>
                          </a:solidFill>
                          <a:latin typeface="Arial"/>
                          <a:ea typeface="Arial"/>
                          <a:cs typeface="Arial"/>
                        </a:rPr>
                        <a:t>Wind reversal</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Luna</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0</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9</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6.2</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0</a:t>
                      </a:r>
                    </a:p>
                  </a:txBody>
                  <a:tcPr marL="114300" marR="95250" marT="76200" marB="76200" anchor="ctr">
                    <a:solidFill>
                      <a:srgbClr val="08121B"/>
                    </a:solidFill>
                  </a:tcPr>
                </a:tc>
              </a:tr>
              <a:tr h="544286">
                <a:tc>
                  <a:txBody>
                    <a:bodyPr>
                      <a:noAutofit/>
                    </a:bodyPr>
                    <a:lstStyle/>
                    <a:p>
                      <a:r>
                        <a:rPr sz="1650" b="0">
                          <a:solidFill>
                            <a:srgbClr val="E5F0F5"/>
                          </a:solidFill>
                          <a:latin typeface="Arial"/>
                          <a:ea typeface="Arial"/>
                          <a:cs typeface="Arial"/>
                        </a:rPr>
                        <a:t>Wind reversal</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GLM</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0</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23</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30.0</a:t>
                      </a:r>
                    </a:p>
                  </a:txBody>
                  <a:tcPr marL="114300" marR="95250" marT="76200" marB="76200" anchor="ctr">
                    <a:solidFill>
                      <a:srgbClr val="08121B"/>
                    </a:solidFill>
                  </a:tcPr>
                </a:tc>
                <a:tc>
                  <a:txBody>
                    <a:bodyPr>
                      <a:noAutofit/>
                    </a:bodyPr>
                    <a:lstStyle/>
                    <a:p>
                      <a:r>
                        <a:rPr sz="1650" b="0">
                          <a:solidFill>
                            <a:srgbClr val="E5F0F5"/>
                          </a:solidFill>
                          <a:latin typeface="Arial"/>
                          <a:ea typeface="Arial"/>
                          <a:cs typeface="Arial"/>
                        </a:rPr>
                        <a:t>1</a:t>
                      </a:r>
                    </a:p>
                  </a:txBody>
                  <a:tcPr marL="114300" marR="95250" marT="76200" marB="76200" anchor="ctr">
                    <a:solidFill>
                      <a:srgbClr val="08121B"/>
                    </a:solidFill>
                  </a:tcPr>
                </a:tc>
              </a:tr>
            </a:tbl>
          </a:graphicData>
        </a:graphic>
      </p:graphicFrame>
    </p:spTree>
    <p:extLst>
      <p:ext uri="{BB962C8B-B14F-4D97-AF65-F5344CB8AC3E}">
        <p14:creationId xmlns:p14="http://schemas.microsoft.com/office/powerpoint/2010/main" val="823199443"/>
      </p:ext>
    </p:extLst>
  </p:cSld>
</p:sld>
</file>

<file path=ppt/slides/slide9.xml><?xml version="1.0" encoding="utf-8"?>
<p:sld xmlns:p="http://schemas.openxmlformats.org/presentationml/2006/main">
  <p:cSld>
    <p:bg>
      <p:bgPr>
        <a:solidFill xmlns:a="http://schemas.openxmlformats.org/drawingml/2006/main">
          <a:srgbClr val="08121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1CB2338-87C3-48FC-8E19-E8BE9B2466B4}"/>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5F0F5"/>
                </a:solidFill>
                <a:latin typeface="Arial"/>
                <a:ea typeface="Arial"/>
                <a:cs typeface="Arial"/>
              </a:defRPr>
            </a:pPr>
            <a:r>
              <a:rPr sz="3300" b="1">
                <a:solidFill>
                  <a:srgbClr val="E5F0F5"/>
                </a:solidFill>
                <a:latin typeface="Arial"/>
                <a:ea typeface="Arial"/>
                <a:cs typeface="Arial"/>
              </a:rPr>
              <a:t>Score interpretation and limits</a:t>
            </a:r>
          </a:p>
        </p:txBody>
      </p:sp>
      <p:sp>
        <p:nvSpPr>
          <p:cNvPr id="2" name="">
            <a:extLst xmlns:a="http://schemas.openxmlformats.org/drawingml/2006/main">
              <a:ext uri="{FF2B5EF4-FFF2-40B4-BE49-F238E27FC236}">
                <a16:creationId xmlns:a16="http://schemas.microsoft.com/office/drawing/2014/main" id="{1FDBA63E-1B9D-4DE7-A8C5-A8682AEF0E22}"/>
              </a:ext>
            </a:extLst>
          </p:cNvPr>
          <p:cNvSpPr>
            <a:spLocks xmlns:a="http://schemas.openxmlformats.org/drawingml/2006/main" noGrp="1"/>
          </p:cNvSpPr>
          <p:nvPr/>
        </p:nvSpPr>
        <p:spPr>
          <a:xfrm xmlns:a="http://schemas.openxmlformats.org/drawingml/2006/main">
            <a:off x="609600" y="60579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91A8B7"/>
                </a:solidFill>
                <a:latin typeface="Arial"/>
                <a:ea typeface="Arial"/>
                <a:cs typeface="Arial"/>
              </a:defRPr>
            </a:pPr>
            <a:r>
              <a:rPr sz="1425" b="0">
                <a:solidFill>
                  <a:srgbClr val="91A8B7"/>
                </a:solidFill>
                <a:latin typeface="Arial"/>
                <a:ea typeface="Arial"/>
                <a:cs typeface="Arial"/>
              </a:rPr>
              <a:t>Source code, recorded commands and full results: github.com/MaxxP0/hackathonAirTraffic</a:t>
            </a:r>
          </a:p>
        </p:txBody>
      </p:sp>
      <p:sp>
        <p:nvSpPr>
          <p:cNvPr id="3" name="">
            <a:extLst xmlns:a="http://schemas.openxmlformats.org/drawingml/2006/main">
              <a:ext uri="{FF2B5EF4-FFF2-40B4-BE49-F238E27FC236}">
                <a16:creationId xmlns:a16="http://schemas.microsoft.com/office/drawing/2014/main" id="{64272665-D74B-443C-B974-763C792C935A}"/>
              </a:ext>
            </a:extLst>
          </p:cNvPr>
          <p:cNvSpPr>
            <a:spLocks xmlns:a="http://schemas.openxmlformats.org/drawingml/2006/main" noGrp="1"/>
          </p:cNvSpPr>
          <p:nvPr/>
        </p:nvSpPr>
        <p:spPr>
          <a:xfrm xmlns:a="http://schemas.openxmlformats.org/drawingml/2006/main">
            <a:off x="609600" y="149542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5DD4CA"/>
                </a:solidFill>
                <a:latin typeface="Arial"/>
                <a:ea typeface="Arial"/>
                <a:cs typeface="Arial"/>
              </a:defRPr>
            </a:pPr>
            <a:r>
              <a:rPr sz="2400" b="1">
                <a:solidFill>
                  <a:srgbClr val="5DD4CA"/>
                </a:solidFill>
                <a:latin typeface="Arial"/>
                <a:ea typeface="Arial"/>
                <a:cs typeface="Arial"/>
              </a:rPr>
              <a:t>Proximity penalties</a:t>
            </a:r>
          </a:p>
        </p:txBody>
      </p:sp>
      <p:sp>
        <p:nvSpPr>
          <p:cNvPr id="4" name="">
            <a:extLst xmlns:a="http://schemas.openxmlformats.org/drawingml/2006/main">
              <a:ext uri="{FF2B5EF4-FFF2-40B4-BE49-F238E27FC236}">
                <a16:creationId xmlns:a16="http://schemas.microsoft.com/office/drawing/2014/main" id="{F6E3F376-E46F-48A6-ACE4-BABEBAA730A3}"/>
              </a:ext>
            </a:extLst>
          </p:cNvPr>
          <p:cNvSpPr>
            <a:spLocks xmlns:a="http://schemas.openxmlformats.org/drawingml/2006/main" noGrp="1"/>
          </p:cNvSpPr>
          <p:nvPr/>
        </p:nvSpPr>
        <p:spPr>
          <a:xfrm xmlns:a="http://schemas.openxmlformats.org/drawingml/2006/main">
            <a:off x="609600" y="2200275"/>
            <a:ext cx="52292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5F0F5"/>
                </a:solidFill>
                <a:latin typeface="Arial"/>
                <a:ea typeface="Arial"/>
                <a:cs typeface="Arial"/>
              </a:defRPr>
            </a:pPr>
            <a:r>
              <a:rPr sz="2025" b="0">
                <a:solidFill>
                  <a:srgbClr val="E5F0F5"/>
                </a:solidFill>
                <a:latin typeface="Arial"/>
                <a:ea typeface="Arial"/>
                <a:cs typeface="Arial"/>
              </a:rPr>
              <a:t>Below 3 NM horizontally and 1,000 ft vertically:</a:t>
            </a:r>
          </a:p>
          <a:p xmlns:a="http://schemas.openxmlformats.org/drawingml/2006/main">
            <a:pPr>
              <a:defRPr sz="2025" b="0">
                <a:solidFill>
                  <a:srgbClr val="E5F0F5"/>
                </a:solidFill>
                <a:latin typeface="Arial"/>
                <a:ea typeface="Arial"/>
                <a:cs typeface="Arial"/>
              </a:defRPr>
            </a:pPr>
            <a:r>
              <a:rPr sz="2025" b="0">
                <a:solidFill>
                  <a:srgbClr val="E5F0F5"/>
                </a:solidFill>
                <a:latin typeface="Arial"/>
                <a:ea typeface="Arial"/>
                <a:cs typeface="Arial"/>
              </a:rPr>
              <a:t>−0.5 points per pair per simulated second.</a:t>
            </a:r>
          </a:p>
        </p:txBody>
      </p:sp>
      <p:sp>
        <p:nvSpPr>
          <p:cNvPr id="5" name="">
            <a:extLst xmlns:a="http://schemas.openxmlformats.org/drawingml/2006/main">
              <a:ext uri="{FF2B5EF4-FFF2-40B4-BE49-F238E27FC236}">
                <a16:creationId xmlns:a16="http://schemas.microsoft.com/office/drawing/2014/main" id="{B6705150-A517-424A-9FC3-87CB0B7A0C22}"/>
              </a:ext>
            </a:extLst>
          </p:cNvPr>
          <p:cNvSpPr>
            <a:spLocks xmlns:a="http://schemas.openxmlformats.org/drawingml/2006/main" noGrp="1"/>
          </p:cNvSpPr>
          <p:nvPr/>
        </p:nvSpPr>
        <p:spPr>
          <a:xfrm xmlns:a="http://schemas.openxmlformats.org/drawingml/2006/main">
            <a:off x="609600" y="3810000"/>
            <a:ext cx="52292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5F0F5"/>
                </a:solidFill>
                <a:latin typeface="Arial"/>
                <a:ea typeface="Arial"/>
                <a:cs typeface="Arial"/>
              </a:defRPr>
            </a:pPr>
            <a:r>
              <a:rPr sz="2025" b="0">
                <a:solidFill>
                  <a:srgbClr val="E5F0F5"/>
                </a:solidFill>
                <a:latin typeface="Arial"/>
                <a:ea typeface="Arial"/>
                <a:cs typeface="Arial"/>
              </a:rPr>
              <a:t>Collision threshold: 0.06 NM and 100 ft.</a:t>
            </a:r>
          </a:p>
          <a:p xmlns:a="http://schemas.openxmlformats.org/drawingml/2006/main">
            <a:pPr>
              <a:defRPr sz="2025" b="0">
                <a:solidFill>
                  <a:srgbClr val="E5F0F5"/>
                </a:solidFill>
                <a:latin typeface="Arial"/>
                <a:ea typeface="Arial"/>
                <a:cs typeface="Arial"/>
              </a:defRPr>
            </a:pPr>
            <a:r>
              <a:rPr sz="2025" b="0">
                <a:solidFill>
                  <a:srgbClr val="E5F0F5"/>
                </a:solidFill>
                <a:latin typeface="Arial"/>
                <a:ea typeface="Arial"/>
                <a:cs typeface="Arial"/>
              </a:rPr>
              <a:t>−1,000,000 points per collision, plus crash penalties.</a:t>
            </a:r>
          </a:p>
        </p:txBody>
      </p:sp>
      <p:sp>
        <p:nvSpPr>
          <p:cNvPr id="6" name="">
            <a:extLst xmlns:a="http://schemas.openxmlformats.org/drawingml/2006/main">
              <a:ext uri="{FF2B5EF4-FFF2-40B4-BE49-F238E27FC236}">
                <a16:creationId xmlns:a16="http://schemas.microsoft.com/office/drawing/2014/main" id="{7F1432B2-4F90-4988-BEB0-653BF8789EEA}"/>
              </a:ext>
            </a:extLst>
          </p:cNvPr>
          <p:cNvSpPr>
            <a:spLocks xmlns:a="http://schemas.openxmlformats.org/drawingml/2006/main" noGrp="1"/>
          </p:cNvSpPr>
          <p:nvPr/>
        </p:nvSpPr>
        <p:spPr>
          <a:xfrm xmlns:a="http://schemas.openxmlformats.org/drawingml/2006/main">
            <a:off x="6457950" y="1495425"/>
            <a:ext cx="51244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9B75F"/>
                </a:solidFill>
                <a:latin typeface="Arial"/>
                <a:ea typeface="Arial"/>
                <a:cs typeface="Arial"/>
              </a:defRPr>
            </a:pPr>
            <a:r>
              <a:rPr sz="2400" b="1">
                <a:solidFill>
                  <a:srgbClr val="F9B75F"/>
                </a:solidFill>
                <a:latin typeface="Arial"/>
                <a:ea typeface="Arial"/>
                <a:cs typeface="Arial"/>
              </a:rPr>
              <a:t>What this comparison establishes</a:t>
            </a:r>
          </a:p>
        </p:txBody>
      </p:sp>
      <p:sp>
        <p:nvSpPr>
          <p:cNvPr id="7" name="">
            <a:extLst xmlns:a="http://schemas.openxmlformats.org/drawingml/2006/main">
              <a:ext uri="{FF2B5EF4-FFF2-40B4-BE49-F238E27FC236}">
                <a16:creationId xmlns:a16="http://schemas.microsoft.com/office/drawing/2014/main" id="{741A32CA-D54F-4E75-828D-82EE5FC16B12}"/>
              </a:ext>
            </a:extLst>
          </p:cNvPr>
          <p:cNvSpPr>
            <a:spLocks xmlns:a="http://schemas.openxmlformats.org/drawingml/2006/main" noGrp="1"/>
          </p:cNvSpPr>
          <p:nvPr/>
        </p:nvSpPr>
        <p:spPr>
          <a:xfrm xmlns:a="http://schemas.openxmlformats.org/drawingml/2006/main">
            <a:off x="6457950" y="2552700"/>
            <a:ext cx="51244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5F0F5"/>
                </a:solidFill>
                <a:latin typeface="Arial"/>
                <a:ea typeface="Arial"/>
                <a:cs typeface="Arial"/>
              </a:defRPr>
            </a:pPr>
            <a:r>
              <a:rPr sz="2025" b="0">
                <a:solidFill>
                  <a:srgbClr val="E5F0F5"/>
                </a:solidFill>
                <a:latin typeface="Arial"/>
                <a:ea typeface="Arial"/>
                <a:cs typeface="Arial"/>
              </a:rPr>
              <a:t>One seed per scenario provides an initial comparison. More seeds are needed to estimate consistency.</a:t>
            </a:r>
          </a:p>
        </p:txBody>
      </p:sp>
      <p:sp>
        <p:nvSpPr>
          <p:cNvPr id="8" name="">
            <a:extLst xmlns:a="http://schemas.openxmlformats.org/drawingml/2006/main">
              <a:ext uri="{FF2B5EF4-FFF2-40B4-BE49-F238E27FC236}">
                <a16:creationId xmlns:a16="http://schemas.microsoft.com/office/drawing/2014/main" id="{9208C457-60C6-42FF-9C29-E7BA345987BF}"/>
              </a:ext>
            </a:extLst>
          </p:cNvPr>
          <p:cNvSpPr>
            <a:spLocks xmlns:a="http://schemas.openxmlformats.org/drawingml/2006/main" noGrp="1"/>
          </p:cNvSpPr>
          <p:nvPr/>
        </p:nvSpPr>
        <p:spPr>
          <a:xfrm xmlns:a="http://schemas.openxmlformats.org/drawingml/2006/main">
            <a:off x="6457950" y="4171950"/>
            <a:ext cx="51244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5F0F5"/>
                </a:solidFill>
                <a:latin typeface="Arial"/>
                <a:ea typeface="Arial"/>
                <a:cs typeface="Arial"/>
              </a:defRPr>
            </a:pPr>
            <a:r>
              <a:rPr sz="2025" b="0">
                <a:solidFill>
                  <a:srgbClr val="E5F0F5"/>
                </a:solidFill>
                <a:latin typeface="Arial"/>
                <a:ea typeface="Arial"/>
                <a:cs typeface="Arial"/>
              </a:rPr>
              <a:t>GLM resumed from saved state after API interruptions. Provider and quantization changes may affect latency and model behavior.</a:t>
            </a:r>
          </a:p>
        </p:txBody>
      </p:sp>
    </p:spTree>
    <p:extLst>
      <p:ext uri="{BB962C8B-B14F-4D97-AF65-F5344CB8AC3E}">
        <p14:creationId xmlns:p14="http://schemas.microsoft.com/office/powerpoint/2010/main" val="14513512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2026-09-26T14:44:08.7600000Z</dcterms:created>
  <dcterms:modified xsi:type="dcterms:W3CDTF">2026-09-26T14:44:08.7600000Z</dcterms:modified>
</coreProperties>
</file>